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79b334978143cc" /><Relationship Type="http://schemas.openxmlformats.org/officeDocument/2006/relationships/extended-properties" Target="/docProps/app.xml" Id="Rdc5ff0f02a4748b9" /><Relationship Type="http://schemas.openxmlformats.org/officeDocument/2006/relationships/officeDocument" Target="/ppt/presentation.xml" Id="Raa9b1964cdb747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2b70e9ddcf41dc"/>
  </p:sldMasterIdLst>
  <p:notesMasterIdLst>
    <p:notesMasterId xmlns:r="http://schemas.openxmlformats.org/officeDocument/2006/relationships" r:id="Rd97cff02b1a546d0"/>
  </p:notesMasterIdLst>
  <p:sldIdLst>
    <p:sldId xmlns:r="http://schemas.openxmlformats.org/officeDocument/2006/relationships" id="256" r:id="Rf1dadf21c5c14ff6"/>
    <p:sldId xmlns:r="http://schemas.openxmlformats.org/officeDocument/2006/relationships" id="257" r:id="R280d8dade0dd45f6"/>
    <p:sldId xmlns:r="http://schemas.openxmlformats.org/officeDocument/2006/relationships" id="258" r:id="R66db2d803ac941bf"/>
    <p:sldId xmlns:r="http://schemas.openxmlformats.org/officeDocument/2006/relationships" id="259" r:id="R89bcfc6855204162"/>
    <p:sldId xmlns:r="http://schemas.openxmlformats.org/officeDocument/2006/relationships" id="260" r:id="R00003ff3c9b04214"/>
    <p:sldId xmlns:r="http://schemas.openxmlformats.org/officeDocument/2006/relationships" id="261" r:id="R283fec2d31c64fc5"/>
    <p:sldId xmlns:r="http://schemas.openxmlformats.org/officeDocument/2006/relationships" id="262" r:id="Re7ca4247a0ca4380"/>
    <p:sldId xmlns:r="http://schemas.openxmlformats.org/officeDocument/2006/relationships" id="263" r:id="Rc4fae2f381094e0f"/>
    <p:sldId xmlns:r="http://schemas.openxmlformats.org/officeDocument/2006/relationships" id="264" r:id="R69fa399e66ce4934"/>
    <p:sldId xmlns:r="http://schemas.openxmlformats.org/officeDocument/2006/relationships" id="265" r:id="R5f05e11d7da24e8e"/>
    <p:sldId xmlns:r="http://schemas.openxmlformats.org/officeDocument/2006/relationships" id="266" r:id="Rfeb0456ea729496d"/>
    <p:sldId xmlns:r="http://schemas.openxmlformats.org/officeDocument/2006/relationships" id="267" r:id="R9a7886b402be4196"/>
    <p:sldId xmlns:r="http://schemas.openxmlformats.org/officeDocument/2006/relationships" id="268" r:id="R5d15b6d0e77947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e6927131c42ca" /><Relationship Type="http://schemas.openxmlformats.org/officeDocument/2006/relationships/slideMaster" Target="/ppt/slideMasters/slideMaster1.xml" Id="R402b70e9ddcf41dc" /><Relationship Type="http://schemas.openxmlformats.org/officeDocument/2006/relationships/notesMaster" Target="/ppt/notesMasters/notesMaster1.xml" Id="Rd97cff02b1a546d0" /><Relationship Type="http://schemas.openxmlformats.org/officeDocument/2006/relationships/presProps" Target="/ppt/presProps.xml" Id="Rc030e1c23ea44907" /><Relationship Type="http://schemas.openxmlformats.org/officeDocument/2006/relationships/tableStyles" Target="/ppt/tableStyles.xml" Id="R4ed6a8edbb1b4ac0" /><Relationship Type="http://schemas.openxmlformats.org/officeDocument/2006/relationships/slide" Target="/ppt/slides/slide1.xml" Id="Rf1dadf21c5c14ff6" /><Relationship Type="http://schemas.openxmlformats.org/officeDocument/2006/relationships/slide" Target="/ppt/slides/slide2.xml" Id="R280d8dade0dd45f6" /><Relationship Type="http://schemas.openxmlformats.org/officeDocument/2006/relationships/slide" Target="/ppt/slides/slide3.xml" Id="R66db2d803ac941bf" /><Relationship Type="http://schemas.openxmlformats.org/officeDocument/2006/relationships/slide" Target="/ppt/slides/slide4.xml" Id="R89bcfc6855204162" /><Relationship Type="http://schemas.openxmlformats.org/officeDocument/2006/relationships/slide" Target="/ppt/slides/slide5.xml" Id="R00003ff3c9b04214" /><Relationship Type="http://schemas.openxmlformats.org/officeDocument/2006/relationships/slide" Target="/ppt/slides/slide6.xml" Id="R283fec2d31c64fc5" /><Relationship Type="http://schemas.openxmlformats.org/officeDocument/2006/relationships/slide" Target="/ppt/slides/slide7.xml" Id="Re7ca4247a0ca4380" /><Relationship Type="http://schemas.openxmlformats.org/officeDocument/2006/relationships/slide" Target="/ppt/slides/slide8.xml" Id="Rc4fae2f381094e0f" /><Relationship Type="http://schemas.openxmlformats.org/officeDocument/2006/relationships/slide" Target="/ppt/slides/slide9.xml" Id="R69fa399e66ce4934" /><Relationship Type="http://schemas.openxmlformats.org/officeDocument/2006/relationships/slide" Target="/ppt/slides/slide10.xml" Id="R5f05e11d7da24e8e" /><Relationship Type="http://schemas.openxmlformats.org/officeDocument/2006/relationships/slide" Target="/ppt/slides/slide11.xml" Id="Rfeb0456ea729496d" /><Relationship Type="http://schemas.openxmlformats.org/officeDocument/2006/relationships/slide" Target="/ppt/slides/slide12.xml" Id="R9a7886b402be4196" /><Relationship Type="http://schemas.openxmlformats.org/officeDocument/2006/relationships/slide" Target="/ppt/slides/slide13.xml" Id="R5d15b6d0e77947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f610c1bbdc40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c19ed8cfaf4d91" /><Relationship Type="http://schemas.openxmlformats.org/officeDocument/2006/relationships/notesMaster" Target="/ppt/notesMasters/notesMaster1.xml" Id="Rf0f8a24815734b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66f0f376664663" /><Relationship Type="http://schemas.openxmlformats.org/officeDocument/2006/relationships/notesMaster" Target="/ppt/notesMasters/notesMaster1.xml" Id="R3f16a685a77e4b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f6de7e06564abf" /><Relationship Type="http://schemas.openxmlformats.org/officeDocument/2006/relationships/notesMaster" Target="/ppt/notesMasters/notesMaster1.xml" Id="R895c47dbc2414d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01659903bf491e" /><Relationship Type="http://schemas.openxmlformats.org/officeDocument/2006/relationships/notesMaster" Target="/ppt/notesMasters/notesMaster1.xml" Id="R7e4a56ffe02d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e206d1a01040f4" /><Relationship Type="http://schemas.openxmlformats.org/officeDocument/2006/relationships/notesMaster" Target="/ppt/notesMasters/notesMaster1.xml" Id="R200b30336f6647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b54411798f42e3" /><Relationship Type="http://schemas.openxmlformats.org/officeDocument/2006/relationships/notesMaster" Target="/ppt/notesMasters/notesMaster1.xml" Id="Rcf381d15054d43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e5ac9fef9c4075" /><Relationship Type="http://schemas.openxmlformats.org/officeDocument/2006/relationships/notesMaster" Target="/ppt/notesMasters/notesMaster1.xml" Id="R12638abb963642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2b769ec433403a" /><Relationship Type="http://schemas.openxmlformats.org/officeDocument/2006/relationships/notesMaster" Target="/ppt/notesMasters/notesMaster1.xml" Id="R2c3cbe9aa1c14d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d163c50ae04db7" /><Relationship Type="http://schemas.openxmlformats.org/officeDocument/2006/relationships/notesMaster" Target="/ppt/notesMasters/notesMaster1.xml" Id="R3f99dfd9ff514c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9ea33fcf7343d1" /><Relationship Type="http://schemas.openxmlformats.org/officeDocument/2006/relationships/notesMaster" Target="/ppt/notesMasters/notesMaster1.xml" Id="R4c31d553d9fc4f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f30cb8b47473f" /><Relationship Type="http://schemas.openxmlformats.org/officeDocument/2006/relationships/notesMaster" Target="/ppt/notesMasters/notesMaster1.xml" Id="R4b9a457ef9b44b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cdf978976a44ed" /><Relationship Type="http://schemas.openxmlformats.org/officeDocument/2006/relationships/notesMaster" Target="/ppt/notesMasters/notesMaster1.xml" Id="Re8c0b983a13942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77ba98c1c14139" /><Relationship Type="http://schemas.openxmlformats.org/officeDocument/2006/relationships/notesMaster" Target="/ppt/notesMasters/notesMaster1.xml" Id="R402a81ecfafa45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brief, 2026-08-14</a:t>
            </a:r>
          </a:p>
          <a:p xmlns:a="http://schemas.openxmlformats.org/drawingml/2006/main">
            <a:r>
              <a:t>- docs/prototypes/per-reply-did-lipsync.md, 2026-08-14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sections 1 and 4</a:t>
            </a:r>
          </a:p>
          <a:p xmlns:a="http://schemas.openxmlformats.org/drawingml/2006/main">
            <a:r>
              <a:t>- prototypes/per-reply-lipsync/README.md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sections 2, 3, 8</a:t>
            </a:r>
          </a:p>
          <a:p xmlns:a="http://schemas.openxmlformats.org/drawingml/2006/main">
            <a:r>
              <a:t>- 【最新】AI_HACK2026_OrcaRouter_deck_v2.pdf, pp. 4, 8-11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sections 3, 4, 8</a:t>
            </a:r>
          </a:p>
          <a:p xmlns:a="http://schemas.openxmlformats.org/drawingml/2006/main">
            <a:r>
              <a:t>- prototypes/per-reply-lipsync/README.md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 4</a:t>
            </a:r>
          </a:p>
          <a:p xmlns:a="http://schemas.openxmlformats.org/drawingml/2006/main">
            <a:r>
              <a:t>- https://docs.d-id.com/reference/createtalk (accessed 2026-08-14)</a:t>
            </a:r>
          </a:p>
          <a:p xmlns:a="http://schemas.openxmlformats.org/drawingml/2006/main">
            <a:r>
              <a:t>- https://docs.d-id.com/reference/deletetalk (accessed 2026-08-14)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https://docs.d-id.com/reference/upload-an-audio (accessed 2026-08-14)</a:t>
            </a:r>
          </a:p>
          <a:p xmlns:a="http://schemas.openxmlformats.org/drawingml/2006/main">
            <a:r>
              <a:t>- https://docs.d-id.com/reference/createtalk (accessed 2026-08-14)</a:t>
            </a:r>
          </a:p>
          <a:p xmlns:a="http://schemas.openxmlformats.org/drawingml/2006/main">
            <a:r>
              <a:t>- docs/prototypes/per-reply-did-lipsync.md, section 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sections 4 and 8</a:t>
            </a:r>
          </a:p>
          <a:p xmlns:a="http://schemas.openxmlformats.org/drawingml/2006/main">
            <a:r>
              <a:t>- prototypes/per-reply-lipsync/README.md, security assumptions</a:t>
            </a:r>
          </a:p>
          <a:p xmlns:a="http://schemas.openxmlformats.org/drawingml/2006/main">
            <a:r>
              <a:t>- 【最新】AI_HACK2026_OrcaRouter_deck_v2.pdf, p.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prototypes/per-reply-lipsync/README.md</a:t>
            </a:r>
          </a:p>
          <a:p xmlns:a="http://schemas.openxmlformats.org/drawingml/2006/main">
            <a:r>
              <a:t>- docs/prototypes/per-reply-did-lipsync.md, sections 9 and 10</a:t>
            </a:r>
          </a:p>
          <a:p xmlns:a="http://schemas.openxmlformats.org/drawingml/2006/main">
            <a:r>
              <a:t>- Prototype test result requested in user brief: 22/22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docs/submission/COST_AND_BUSINESS_PLAN.md, sections 2-4</a:t>
            </a:r>
          </a:p>
          <a:p xmlns:a="http://schemas.openxmlformats.org/drawingml/2006/main">
            <a:r>
              <a:t>- https://www.d-id.com/faqs/ (credits: up to 15 seconds, accessed 2026-08-14)</a:t>
            </a:r>
          </a:p>
          <a:p xmlns:a="http://schemas.openxmlformats.org/drawingml/2006/main">
            <a:r>
              <a:t>- https://www.d-id.com/pricing/api?from=studio_settings (pricing source listed; recheck before submission)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brief, 2026-08-14 (internal harsh assessment: 19/40 and weaknesses)</a:t>
            </a:r>
          </a:p>
          <a:p xmlns:a="http://schemas.openxmlformats.org/drawingml/2006/main">
            <a:r>
              <a:t>- AI HACK 2026 Day1.pdf, judging criteria and submission requirements</a:t>
            </a:r>
          </a:p>
          <a:p xmlns:a="http://schemas.openxmlformats.org/drawingml/2006/main">
            <a:r>
              <a:t>- 【最新】AI_HACK2026_OrcaRouter_deck_v2.pdf, p.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brief, 2026-08-14 (future operator proposal)</a:t>
            </a:r>
          </a:p>
          <a:p xmlns:a="http://schemas.openxmlformats.org/drawingml/2006/main">
            <a:r>
              <a:t>- docs/submission/COST_AND_BUSINESS_PLAN.md, sections 1 and 5</a:t>
            </a:r>
          </a:p>
          <a:p xmlns:a="http://schemas.openxmlformats.org/drawingml/2006/main">
            <a:r>
              <a:t>- docs/prototypes/per-reply-did-lipsync.md, section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 11</a:t>
            </a:r>
          </a:p>
          <a:p xmlns:a="http://schemas.openxmlformats.org/drawingml/2006/main">
            <a:r>
              <a:t>- AI HACK 2026 Day1.pdf, submission deadline and required deliverables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docs/prototypes/per-reply-did-lipsync.md, sections 10 and 11</a:t>
            </a:r>
          </a:p>
          <a:p xmlns:a="http://schemas.openxmlformats.org/drawingml/2006/main">
            <a:r>
              <a:t>- docs/submission/COST_AND_BUSINESS_PLAN.md, sections 5 and 6</a:t>
            </a:r>
          </a:p>
          <a:p xmlns:a="http://schemas.openxmlformats.org/drawingml/2006/main">
            <a:r>
              <a:t>- User brief, 2026-08-14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a79f7b26dc49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dc9fa7776a432d" /><Relationship Type="http://schemas.openxmlformats.org/officeDocument/2006/relationships/slideLayout" Target="/ppt/slideLayouts/slideLayout1.xml" Id="R412d9d5decb14e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d9d5decb14e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4b3163ef441de" /><Relationship Type="http://schemas.openxmlformats.org/officeDocument/2006/relationships/notesSlide" Target="/ppt/notesSlides/notesSlide1.xml" Id="Rb2b844fde14748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32c3eb5544e95" /><Relationship Type="http://schemas.openxmlformats.org/officeDocument/2006/relationships/notesSlide" Target="/ppt/notesSlides/notesSlide2.xml" Id="R720dcae755e740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cdd23b19144d0" /><Relationship Type="http://schemas.openxmlformats.org/officeDocument/2006/relationships/notesSlide" Target="/ppt/notesSlides/notesSlide3.xml" Id="R7a9de7bec95c4b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47877c6e04ef1" /><Relationship Type="http://schemas.openxmlformats.org/officeDocument/2006/relationships/notesSlide" Target="/ppt/notesSlides/notesSlide4.xml" Id="R3c33e008be1a44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186dd3dd84213" /><Relationship Type="http://schemas.openxmlformats.org/officeDocument/2006/relationships/notesSlide" Target="/ppt/notesSlides/notesSlide5.xml" Id="R10d81616f99b41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89c963c174957" /><Relationship Type="http://schemas.openxmlformats.org/officeDocument/2006/relationships/notesSlide" Target="/ppt/notesSlides/notesSlide6.xml" Id="R2d44422c816f47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663c74f324af2" /><Relationship Type="http://schemas.openxmlformats.org/officeDocument/2006/relationships/notesSlide" Target="/ppt/notesSlides/notesSlide7.xml" Id="R54fbc1f7364e40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d4e8c51ab4a0f" /><Relationship Type="http://schemas.openxmlformats.org/officeDocument/2006/relationships/notesSlide" Target="/ppt/notesSlides/notesSlide8.xml" Id="R8513e991632743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c6ad6cf31409d" /><Relationship Type="http://schemas.openxmlformats.org/officeDocument/2006/relationships/notesSlide" Target="/ppt/notesSlides/notesSlide9.xml" Id="Rd5e2ef79143843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24e57ab4428a" /><Relationship Type="http://schemas.openxmlformats.org/officeDocument/2006/relationships/notesSlide" Target="/ppt/notesSlides/notesSlide10.xml" Id="R3efc888046794c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75b5926934ef4" /><Relationship Type="http://schemas.openxmlformats.org/officeDocument/2006/relationships/notesSlide" Target="/ppt/notesSlides/notesSlide11.xml" Id="Ra23c1682719f40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647d6aaea4fa7" /><Relationship Type="http://schemas.openxmlformats.org/officeDocument/2006/relationships/notesSlide" Target="/ppt/notesSlides/notesSlide12.xml" Id="R3e8b62be8e8444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9fe9cd5ba4056" /><Relationship Type="http://schemas.openxmlformats.org/officeDocument/2006/relationships/notesSlide" Target="/ppt/notesSlides/notesSlide13.xml" Id="R1eb473e8d38144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C32969-7B9C-4EF1-8031-2E80B353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TEAM SHARE / AI HACK 2026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26FE3CF3-99EB-4E96-8369-CF87C60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191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会話ごとに、</a:t>
            </a:r>
          </a:p>
          <a:p xmlns:a="http://schemas.openxmlformats.org/drawingml/2006/main">
            <a:pPr algn="l">
              <a:def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58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声と口が合う。</a:t>
            </a:r>
          </a:p>
        </p:txBody>
      </p:sp>
      <p:sp>
        <p:nvSpPr>
          <p:cNvPr id="3" name="hero-field">
            <a:extLst xmlns:a="http://schemas.openxmlformats.org/drawingml/2006/main">
              <a:ext uri="{FF2B5EF4-FFF2-40B4-BE49-F238E27FC236}">
                <a16:creationId xmlns:a16="http://schemas.microsoft.com/office/drawing/2014/main" id="{1AA5E7F9-033A-4A4D-9BFF-DF21911D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face">
            <a:extLst xmlns:a="http://schemas.openxmlformats.org/drawingml/2006/main">
              <a:ext uri="{FF2B5EF4-FFF2-40B4-BE49-F238E27FC236}">
                <a16:creationId xmlns:a16="http://schemas.microsoft.com/office/drawing/2014/main" id="{CB2B9F86-AE9E-4ADF-8C43-7B1154AE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478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audio">
            <a:extLst xmlns:a="http://schemas.openxmlformats.org/drawingml/2006/main">
              <a:ext uri="{FF2B5EF4-FFF2-40B4-BE49-F238E27FC236}">
                <a16:creationId xmlns:a16="http://schemas.microsoft.com/office/drawing/2014/main" id="{EA785D36-8319-46AA-9B51-5D04436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8953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ero-audio2">
            <a:extLst xmlns:a="http://schemas.openxmlformats.org/drawingml/2006/main">
              <a:ext uri="{FF2B5EF4-FFF2-40B4-BE49-F238E27FC236}">
                <a16:creationId xmlns:a16="http://schemas.microsoft.com/office/drawing/2014/main" id="{286FB3BE-BE62-46DB-B6C9-06F6CD0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619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F59BD96-2F1D-4900-A99F-9564F17D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D-ID per-reply lip-sync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5A3B988-B4D0-4951-8CFB-8CBE8F01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800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安全試作で経路を固めた。次はlive 1〜3回で品質を証明する。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379577-B54E-4F7A-88C6-2B2E8B73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2026.08.14</a:t>
            </a:r>
          </a:p>
        </p:txBody>
      </p:sp>
    </p:spTree>
    <p:extLst>
      <p:ext uri="{BB962C8B-B14F-4D97-AF65-F5344CB8AC3E}">
        <p14:creationId xmlns:p14="http://schemas.microsoft.com/office/powerpoint/2010/main" val="2959266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53479D95-2205-4087-A860-5EE431B5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 / PURPOSE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41B45A-9980-4C6D-8606-6BBF9C80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待機再生から「会話ごとの口同期」へ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CAC332A-6C1E-4FB8-81DB-FDC07D1A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69E7EA-0288-4871-8D8B-7DE02F81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label-bg">
            <a:extLst xmlns:a="http://schemas.openxmlformats.org/drawingml/2006/main">
              <a:ext uri="{FF2B5EF4-FFF2-40B4-BE49-F238E27FC236}">
                <a16:creationId xmlns:a16="http://schemas.microsoft.com/office/drawing/2014/main" id="{DCDC0B51-0D72-4E36-8B44-318D3381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4C2DB548-C027-40BA-BB7E-7002FEC0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0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現状</a:t>
            </a:r>
          </a:p>
        </p:txBody>
      </p:sp>
      <p:sp>
        <p:nvSpPr>
          <p:cNvPr id="7" name="current-state">
            <a:extLst xmlns:a="http://schemas.openxmlformats.org/drawingml/2006/main">
              <a:ext uri="{FF2B5EF4-FFF2-40B4-BE49-F238E27FC236}">
                <a16:creationId xmlns:a16="http://schemas.microsoft.com/office/drawing/2014/main" id="{1EAC180F-9677-4A8A-9F1A-9B18EE48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4686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ECF4B1-88AA-49E6-A633-8B4012A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待機動画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47EF24F-9971-426B-AA9D-2E81AFE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52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F83958B-71A0-4103-81C1-A088000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527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別音声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A78FD5-2480-4E97-8DF3-2443D14D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口の動きと最終音声が一致しない</a:t>
            </a:r>
          </a:p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「返事している感」が弱い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9E69AFBA-E9DA-46A9-87EB-51E8A455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09900"/>
            <a:ext cx="97155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label-bg">
            <a:extLst xmlns:a="http://schemas.openxmlformats.org/drawingml/2006/main">
              <a:ext uri="{FF2B5EF4-FFF2-40B4-BE49-F238E27FC236}">
                <a16:creationId xmlns:a16="http://schemas.microsoft.com/office/drawing/2014/main" id="{23425E08-2D13-41DF-8CAC-14250810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526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25E48890-0852-46BC-B6AB-A145B6E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0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目標</a:t>
            </a:r>
          </a:p>
        </p:txBody>
      </p:sp>
      <p:sp>
        <p:nvSpPr>
          <p:cNvPr id="15" name="target-state">
            <a:extLst xmlns:a="http://schemas.openxmlformats.org/drawingml/2006/main">
              <a:ext uri="{FF2B5EF4-FFF2-40B4-BE49-F238E27FC236}">
                <a16:creationId xmlns:a16="http://schemas.microsoft.com/office/drawing/2014/main" id="{C02A8927-6B46-49D4-9ED5-DEE2196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933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844C559-1F3B-4318-81CE-A7B55003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336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最終音声 × 口同期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823C674-EDE6-4AED-81E4-55B91F7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43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会話ごとに生成したMP4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5627793-9865-446D-A7BA-8FE27027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動画内音声と字幕は同じ返信文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DC24AF-BF0A-47D2-9177-ECF1326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価値の中心は「登録済みの保護者らしい返答を、次の一歩へつなぐ」こと。</a:t>
            </a:r>
          </a:p>
        </p:txBody>
      </p:sp>
    </p:spTree>
    <p:extLst>
      <p:ext uri="{BB962C8B-B14F-4D97-AF65-F5344CB8AC3E}">
        <p14:creationId xmlns:p14="http://schemas.microsoft.com/office/powerpoint/2010/main" val="18520896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956E7933-5C3F-460D-BAD0-E8F1A6BC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 / RESPONSIBILITIES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C310D1-F3DC-4125-AF82-6272B144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4つの役割を分けると、安全境界が見える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C2C2F2-B575-45E8-82A8-06DDBDF6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E6B564-F314-4D53-B265-1B0AF8AE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role-0">
            <a:extLst xmlns:a="http://schemas.openxmlformats.org/drawingml/2006/main">
              <a:ext uri="{FF2B5EF4-FFF2-40B4-BE49-F238E27FC236}">
                <a16:creationId xmlns:a16="http://schemas.microsoft.com/office/drawing/2014/main" id="{2175EE7C-DDD6-45D0-A0BD-9ECED5C2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E1E79A-D4FE-41CC-8C4D-555F928F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0CAAD83-B995-4463-B282-862B4C24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C8C5735-1E54-4259-80F9-5A6A815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STT / reply / safety / TTS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FDDA449-3000-424D-BCF0-A2EB6902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最終返信文と音声を確定</a:t>
            </a:r>
          </a:p>
        </p:txBody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30E8FAFA-E242-4C01-83AD-741C7927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3E0DB9A-EACD-4C21-A60F-4753F19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4419162-66E1-4054-9629-FDB9481E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D-ID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1DD44CF-859A-427D-9F34-A218C77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audio → talk → MP4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0CF430-D4DA-4FB0-A152-E55194BC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91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写真を音声に合わせて口同期</a:t>
            </a:r>
          </a:p>
        </p:txBody>
      </p:sp>
      <p:sp>
        <p:nvSpPr>
          <p:cNvPr id="15" name="role-2">
            <a:extLst xmlns:a="http://schemas.openxmlformats.org/drawingml/2006/main">
              <a:ext uri="{FF2B5EF4-FFF2-40B4-BE49-F238E27FC236}">
                <a16:creationId xmlns:a16="http://schemas.microsoft.com/office/drawing/2014/main" id="{7E944011-9D93-4400-BDF2-018AF95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E678BF1-C266-4591-9E87-C941F0B6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428B4BD-1DA3-446E-90F2-925489DC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UI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BFB9E9E-BE43-4072-B821-9889964D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poll / video / subtitle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C607D34-2265-4A20-8F07-5D17938F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生成中を示し、会話を継続</a:t>
            </a:r>
          </a:p>
        </p:txBody>
      </p:sp>
      <p:sp>
        <p:nvSpPr>
          <p:cNvPr id="20" name="role-3">
            <a:extLst xmlns:a="http://schemas.openxmlformats.org/drawingml/2006/main">
              <a:ext uri="{FF2B5EF4-FFF2-40B4-BE49-F238E27FC236}">
                <a16:creationId xmlns:a16="http://schemas.microsoft.com/office/drawing/2014/main" id="{8FBABF9D-78EA-40A0-A6BF-0329C797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43100"/>
            <a:ext cx="2381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F38496-AB2C-4AF2-88A2-0539BD29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33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01B04C-BC6B-49A6-869F-F8F21BB0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Secure storage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C1CAE0F-976E-4AA5-AAA2-DD470113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inspect / AES / serve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4398B68-348C-4D6C-99FA-396F693C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9100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外部URLを隠し、暗号保存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3236BE6-AC29-436F-8E6A-A75C1B5E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鍵・素材・会話本文・署名URLはログへ出さない。</a:t>
            </a:r>
          </a:p>
        </p:txBody>
      </p:sp>
    </p:spTree>
    <p:extLst>
      <p:ext uri="{BB962C8B-B14F-4D97-AF65-F5344CB8AC3E}">
        <p14:creationId xmlns:p14="http://schemas.microsoft.com/office/powerpoint/2010/main" val="9859413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85C01750-529F-4732-9007-9199B5BE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 /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307974-8079-43FE-8333-42884662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D-IDは生成担当。制御と保管はアプリ側に残す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309B23-13A0-472E-B5FA-E58B6470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D1BA48-FB04-4F9B-BB58-5702176B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9A351B7B-985F-467C-A1B9-647DA879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838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458EEBC7-83DF-4A36-90F1-6BD62081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09850"/>
            <a:ext cx="838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CA0BA080-CBDE-4539-AB3E-D5175018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838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result-down">
            <a:extLst xmlns:a="http://schemas.openxmlformats.org/drawingml/2006/main">
              <a:ext uri="{FF2B5EF4-FFF2-40B4-BE49-F238E27FC236}">
                <a16:creationId xmlns:a16="http://schemas.microsoft.com/office/drawing/2014/main" id="{FB4C2CDF-C3E0-49BB-A183-6078E2AE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562350"/>
            <a:ext cx="4191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ecure-left">
            <a:extLst xmlns:a="http://schemas.openxmlformats.org/drawingml/2006/main">
              <a:ext uri="{FF2B5EF4-FFF2-40B4-BE49-F238E27FC236}">
                <a16:creationId xmlns:a16="http://schemas.microsoft.com/office/drawing/2014/main" id="{4B2EA4D6-493B-4C22-8882-6E74257C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06680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arch-node-0">
            <a:extLst xmlns:a="http://schemas.openxmlformats.org/drawingml/2006/main">
              <a:ext uri="{FF2B5EF4-FFF2-40B4-BE49-F238E27FC236}">
                <a16:creationId xmlns:a16="http://schemas.microsoft.com/office/drawing/2014/main" id="{B0C73A91-E529-4A96-A9A5-35BA019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847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3D9D54-9BD3-424D-B914-9966A972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UI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CFF587D-139E-430E-A284-709F10D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1504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録音 / poll / MP4 / 字幕</a:t>
            </a:r>
          </a:p>
        </p:txBody>
      </p:sp>
      <p:sp>
        <p:nvSpPr>
          <p:cNvPr id="13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81ADF3B-0F76-4FB1-AD20-5D0711D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1828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F7D7512-7E3F-4552-BB38-EBB3AF4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App server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5D7E3E-6ADF-4D33-A852-2E7AA0BF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384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同意 / gate / dedup</a:t>
            </a:r>
          </a:p>
        </p:txBody>
      </p:sp>
      <p:sp>
        <p:nvSpPr>
          <p:cNvPr id="16" name="arch-node-2">
            <a:extLst xmlns:a="http://schemas.openxmlformats.org/drawingml/2006/main">
              <a:ext uri="{FF2B5EF4-FFF2-40B4-BE49-F238E27FC236}">
                <a16:creationId xmlns:a16="http://schemas.microsoft.com/office/drawing/2014/main" id="{A08DEA56-AF4D-4674-83D1-6F98891B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18288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011A011-CEC3-4FF8-B091-906BEA8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431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F7FC8A-5692-4252-BFF4-D72ACDEB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11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STT / reply / TTS</a:t>
            </a:r>
          </a:p>
        </p:txBody>
      </p:sp>
      <p:sp>
        <p:nvSpPr>
          <p:cNvPr id="19" name="arch-node-3">
            <a:extLst xmlns:a="http://schemas.openxmlformats.org/drawingml/2006/main">
              <a:ext uri="{FF2B5EF4-FFF2-40B4-BE49-F238E27FC236}">
                <a16:creationId xmlns:a16="http://schemas.microsoft.com/office/drawing/2014/main" id="{AB01B068-B1CF-4D5B-977F-3AC49AB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781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AA4BA75-9A72-4233-8D15-1A0E2C16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D-ID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3523E88-F9AE-4AF4-A096-D893C89D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/audios /talks / poll</a:t>
            </a:r>
          </a:p>
        </p:txBody>
      </p:sp>
      <p:sp>
        <p:nvSpPr>
          <p:cNvPr id="22" name="mp4-inspect">
            <a:extLst xmlns:a="http://schemas.openxmlformats.org/drawingml/2006/main">
              <a:ext uri="{FF2B5EF4-FFF2-40B4-BE49-F238E27FC236}">
                <a16:creationId xmlns:a16="http://schemas.microsoft.com/office/drawing/2014/main" id="{5965C698-B755-49D3-825C-C1CA1FDB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D9DF684-9AA6-4E4A-871F-96D73301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67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MP4検査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24183DB-741D-4225-ADE4-CAA06AF5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05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host / MIME / size</a:t>
            </a:r>
          </a:p>
        </p:txBody>
      </p:sp>
      <p:sp>
        <p:nvSpPr>
          <p:cNvPr id="25" name="secure-store">
            <a:extLst xmlns:a="http://schemas.openxmlformats.org/drawingml/2006/main">
              <a:ext uri="{FF2B5EF4-FFF2-40B4-BE49-F238E27FC236}">
                <a16:creationId xmlns:a16="http://schemas.microsoft.com/office/drawing/2014/main" id="{39ECFD62-75A6-47FA-8516-06AF45C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3124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3851D4B-B87B-4CD1-9E20-7FEB45C3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672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Secure storage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1E8FCB2-D789-4D9F-B2E2-D4CAFCC1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AES-256-GCM / internal ref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6B25412-5AD9-4CD3-811C-75AB883C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外部result_urlは一時入力。UIへ返すのは内部asset参照だけ。</a:t>
            </a:r>
          </a:p>
        </p:txBody>
      </p:sp>
    </p:spTree>
    <p:extLst>
      <p:ext uri="{BB962C8B-B14F-4D97-AF65-F5344CB8AC3E}">
        <p14:creationId xmlns:p14="http://schemas.microsoft.com/office/powerpoint/2010/main" val="214282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kicker">
            <a:extLst xmlns:a="http://schemas.openxmlformats.org/drawingml/2006/main">
              <a:ext uri="{FF2B5EF4-FFF2-40B4-BE49-F238E27FC236}">
                <a16:creationId xmlns:a16="http://schemas.microsoft.com/office/drawing/2014/main" id="{045E8E16-266A-4581-AA4B-3106E49F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 / API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E3B8AA-9F2C-4418-9664-4865D7BF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最終返信が固まってから、動画を1本だけ作る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BC3CA36-0399-47B3-9ED2-934D271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AB3D45-0EA2-424E-9AC3-45DD90DE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596A84E-78DA-48D1-94B2-E5A345EB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7650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2F4E4524-63E1-4E56-AF7C-179D9AD6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AE01C106-4C06-43E1-AE84-EAEE31E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DADA7B07-E0F8-470A-B639-CABD6A71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5143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sequence-turn">
            <a:extLst xmlns:a="http://schemas.openxmlformats.org/drawingml/2006/main">
              <a:ext uri="{FF2B5EF4-FFF2-40B4-BE49-F238E27FC236}">
                <a16:creationId xmlns:a16="http://schemas.microsoft.com/office/drawing/2014/main" id="{89C748C1-F1AB-4682-BA8E-14C245F2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57550"/>
            <a:ext cx="45720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equence-left">
            <a:extLst xmlns:a="http://schemas.openxmlformats.org/drawingml/2006/main">
              <a:ext uri="{FF2B5EF4-FFF2-40B4-BE49-F238E27FC236}">
                <a16:creationId xmlns:a16="http://schemas.microsoft.com/office/drawing/2014/main" id="{32E46395-88AE-46CC-B339-5626E87A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5143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sequence-left">
            <a:extLst xmlns:a="http://schemas.openxmlformats.org/drawingml/2006/main">
              <a:ext uri="{FF2B5EF4-FFF2-40B4-BE49-F238E27FC236}">
                <a16:creationId xmlns:a16="http://schemas.microsoft.com/office/drawing/2014/main" id="{A2FDC3B7-EE92-4B41-BFE4-5B337A1A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14850"/>
            <a:ext cx="5143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sequence-left">
            <a:extLst xmlns:a="http://schemas.openxmlformats.org/drawingml/2006/main">
              <a:ext uri="{FF2B5EF4-FFF2-40B4-BE49-F238E27FC236}">
                <a16:creationId xmlns:a16="http://schemas.microsoft.com/office/drawing/2014/main" id="{6C4D4DE4-41DC-42C4-9B06-DA71FBBC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5143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sequence-left">
            <a:extLst xmlns:a="http://schemas.openxmlformats.org/drawingml/2006/main">
              <a:ext uri="{FF2B5EF4-FFF2-40B4-BE49-F238E27FC236}">
                <a16:creationId xmlns:a16="http://schemas.microsoft.com/office/drawing/2014/main" id="{B9B6F77F-F51D-403E-B9A4-B859EF7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14850"/>
            <a:ext cx="5143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eq-top-0">
            <a:extLst xmlns:a="http://schemas.openxmlformats.org/drawingml/2006/main">
              <a:ext uri="{FF2B5EF4-FFF2-40B4-BE49-F238E27FC236}">
                <a16:creationId xmlns:a16="http://schemas.microsoft.com/office/drawing/2014/main" id="{D5499CD6-39F6-45CB-9D10-4ECB693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5F2C56-5678-4021-96A1-7B0DD9C1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EAE59DF-AC59-44D5-B54B-D4FDD388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STT</a:t>
            </a:r>
          </a:p>
        </p:txBody>
      </p:sp>
      <p:sp>
        <p:nvSpPr>
          <p:cNvPr id="17" name="seq-top-1">
            <a:extLst xmlns:a="http://schemas.openxmlformats.org/drawingml/2006/main">
              <a:ext uri="{FF2B5EF4-FFF2-40B4-BE49-F238E27FC236}">
                <a16:creationId xmlns:a16="http://schemas.microsoft.com/office/drawing/2014/main" id="{11C8D08E-5CE4-4B78-AE4D-23210846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76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99B2CE5-D1E7-46DD-A1D1-B1348B46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53A68F-160F-4C93-97D9-CCB58C6F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71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08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reply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+ safety</a:t>
            </a:r>
          </a:p>
        </p:txBody>
      </p:sp>
      <p:sp>
        <p:nvSpPr>
          <p:cNvPr id="20" name="seq-top-2">
            <a:extLst xmlns:a="http://schemas.openxmlformats.org/drawingml/2006/main">
              <a:ext uri="{FF2B5EF4-FFF2-40B4-BE49-F238E27FC236}">
                <a16:creationId xmlns:a16="http://schemas.microsoft.com/office/drawing/2014/main" id="{183DB7A2-3892-4F1B-9322-34D21D1E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76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8F8FF33-17A0-4B05-9E7B-C09BBC4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78052EA-3CA4-40CC-B561-C1CB4BD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TTS</a:t>
            </a:r>
          </a:p>
        </p:txBody>
      </p:sp>
      <p:sp>
        <p:nvSpPr>
          <p:cNvPr id="23" name="seq-top-3">
            <a:extLst xmlns:a="http://schemas.openxmlformats.org/drawingml/2006/main">
              <a:ext uri="{FF2B5EF4-FFF2-40B4-BE49-F238E27FC236}">
                <a16:creationId xmlns:a16="http://schemas.microsoft.com/office/drawing/2014/main" id="{F6BEACB7-1E87-4504-BBAD-3B38FA31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A56D383-2B94-4D13-82FC-2130EBD3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09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0AE330C-42D9-416F-A8CA-2763EC11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/audios</a:t>
            </a:r>
          </a:p>
        </p:txBody>
      </p:sp>
      <p:sp>
        <p:nvSpPr>
          <p:cNvPr id="26" name="seq-top-4">
            <a:extLst xmlns:a="http://schemas.openxmlformats.org/drawingml/2006/main">
              <a:ext uri="{FF2B5EF4-FFF2-40B4-BE49-F238E27FC236}">
                <a16:creationId xmlns:a16="http://schemas.microsoft.com/office/drawing/2014/main" id="{CA2A748D-DF1F-43AA-ACA2-3D307E6B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764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9945A4F-989B-427C-B6A4-9FA064C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098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A9898D4-2BA9-423F-B1A8-1E63A0C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/talks</a:t>
            </a:r>
          </a:p>
        </p:txBody>
      </p:sp>
      <p:sp>
        <p:nvSpPr>
          <p:cNvPr id="29" name="seq-bottom-0">
            <a:extLst xmlns:a="http://schemas.openxmlformats.org/drawingml/2006/main">
              <a:ext uri="{FF2B5EF4-FFF2-40B4-BE49-F238E27FC236}">
                <a16:creationId xmlns:a16="http://schemas.microsoft.com/office/drawing/2014/main" id="{7C69C2D8-275F-4B6A-912B-0B27CE5B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957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352D4E9-D014-422C-ACDD-2B8C0956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6D6D536-52D5-45B8-9D18-63A723AA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91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poll</a:t>
            </a:r>
          </a:p>
        </p:txBody>
      </p:sp>
      <p:sp>
        <p:nvSpPr>
          <p:cNvPr id="32" name="seq-bottom-1">
            <a:extLst xmlns:a="http://schemas.openxmlformats.org/drawingml/2006/main">
              <a:ext uri="{FF2B5EF4-FFF2-40B4-BE49-F238E27FC236}">
                <a16:creationId xmlns:a16="http://schemas.microsoft.com/office/drawing/2014/main" id="{AA3F1AAA-B663-4728-92BF-6F76A68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4E96CD3-31C9-4108-9818-85F3433E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6768BF2-B4D6-47A1-A132-350F0D59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91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08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MP4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検査</a:t>
            </a:r>
          </a:p>
        </p:txBody>
      </p:sp>
      <p:sp>
        <p:nvSpPr>
          <p:cNvPr id="35" name="seq-bottom-2">
            <a:extLst xmlns:a="http://schemas.openxmlformats.org/drawingml/2006/main">
              <a:ext uri="{FF2B5EF4-FFF2-40B4-BE49-F238E27FC236}">
                <a16:creationId xmlns:a16="http://schemas.microsoft.com/office/drawing/2014/main" id="{136E2FDA-CB13-4772-A557-76B180B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957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D16E40E-09D7-43FC-9519-7DDD1F6B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EC199F68-D0D6-41C8-9474-9D560716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08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AES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保存</a:t>
            </a:r>
          </a:p>
        </p:txBody>
      </p:sp>
      <p:sp>
        <p:nvSpPr>
          <p:cNvPr id="38" name="seq-bottom-3">
            <a:extLst xmlns:a="http://schemas.openxmlformats.org/drawingml/2006/main">
              <a:ext uri="{FF2B5EF4-FFF2-40B4-BE49-F238E27FC236}">
                <a16:creationId xmlns:a16="http://schemas.microsoft.com/office/drawing/2014/main" id="{1C0AB872-1287-40E6-9A18-BAC915D5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41E244C-77FE-4703-8C7F-3516191A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7888D77-3D9C-4E8F-9770-9BBA8838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308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内部</a:t>
            </a:r>
          </a:p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配信</a:t>
            </a:r>
          </a:p>
        </p:txBody>
      </p:sp>
      <p:sp>
        <p:nvSpPr>
          <p:cNvPr id="41" name="seq-bottom-4">
            <a:extLst xmlns:a="http://schemas.openxmlformats.org/drawingml/2006/main">
              <a:ext uri="{FF2B5EF4-FFF2-40B4-BE49-F238E27FC236}">
                <a16:creationId xmlns:a16="http://schemas.microsoft.com/office/drawing/2014/main" id="{07DA6981-D3AE-45C1-B50A-DF00ED8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70277F3C-7418-4001-AC06-2468505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4009940-2D3E-4E03-B98B-875B5841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字幕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95A56039-41A7-40F3-964B-532C4BAA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失敗・timeoutはreadyにしない。既知IDをcleanupし、同じfingerprintの二重生成を止める。</a:t>
            </a:r>
          </a:p>
        </p:txBody>
      </p:sp>
    </p:spTree>
    <p:extLst>
      <p:ext uri="{BB962C8B-B14F-4D97-AF65-F5344CB8AC3E}">
        <p14:creationId xmlns:p14="http://schemas.microsoft.com/office/powerpoint/2010/main" val="1700014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B22D075C-6708-4804-A9AA-3431981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 / AUDIO DELIVERY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912657-68BA-41D4-AB20-8A1970E9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音声を /audios へ直送。自前の公開URLは不要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7720BD2-4F08-4205-99DB-BD4049B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84798F-612B-49B9-AF54-7396E0D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A999935-B2C4-4DDA-BDD1-22A66F3C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2F2EEAD-C795-47D3-BADA-D467FE33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62250"/>
            <a:ext cx="857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audio-memory">
            <a:extLst xmlns:a="http://schemas.openxmlformats.org/drawingml/2006/main">
              <a:ext uri="{FF2B5EF4-FFF2-40B4-BE49-F238E27FC236}">
                <a16:creationId xmlns:a16="http://schemas.microsoft.com/office/drawing/2014/main" id="{49B1AF5F-0756-48AA-950A-37C5572E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781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B64429C-57A3-48CD-8E89-DAED1034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OrcaRouter音声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C816367-B88B-4137-98BE-0EE134B8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335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binary / server memory</a:t>
            </a:r>
          </a:p>
        </p:txBody>
      </p:sp>
      <p:sp>
        <p:nvSpPr>
          <p:cNvPr id="10" name="did-audios">
            <a:extLst xmlns:a="http://schemas.openxmlformats.org/drawingml/2006/main">
              <a:ext uri="{FF2B5EF4-FFF2-40B4-BE49-F238E27FC236}">
                <a16:creationId xmlns:a16="http://schemas.microsoft.com/office/drawing/2014/main" id="{BD960402-A475-48C7-865C-5863E706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105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6614D2E-1CBC-45DF-B18E-A2ADD0DA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POST /audios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5F7ED70-786A-449E-B76C-83362120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1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multipart → 一時audio URL</a:t>
            </a:r>
          </a:p>
        </p:txBody>
      </p:sp>
      <p:sp>
        <p:nvSpPr>
          <p:cNvPr id="13" name="did-talks">
            <a:extLst xmlns:a="http://schemas.openxmlformats.org/drawingml/2006/main">
              <a:ext uri="{FF2B5EF4-FFF2-40B4-BE49-F238E27FC236}">
                <a16:creationId xmlns:a16="http://schemas.microsoft.com/office/drawing/2014/main" id="{C08463EB-6A15-4126-97D3-15E6E172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486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F147AFC-938C-45F0-8ED2-FE15CAED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POST /talks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F5448E7-9A9C-4DEE-999A-FD411048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AudioScript(audio_url)</a:t>
            </a:r>
          </a:p>
        </p:txBody>
      </p:sp>
      <p:sp>
        <p:nvSpPr>
          <p:cNvPr id="16" name="label-bg">
            <a:extLst xmlns:a="http://schemas.openxmlformats.org/drawingml/2006/main">
              <a:ext uri="{FF2B5EF4-FFF2-40B4-BE49-F238E27FC236}">
                <a16:creationId xmlns:a16="http://schemas.microsoft.com/office/drawing/2014/main" id="{699003DA-A286-4B15-BE3F-95D4778C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74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2986A189-A52F-41E8-8BA3-7B6145C0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不要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350125-A34A-45A5-A5E2-B9BCEECA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localhost / tunnel / 恒久公開URL / 自前object storage</a:t>
            </a:r>
          </a:p>
        </p:txBody>
      </p:sp>
      <p:sp>
        <p:nvSpPr>
          <p:cNvPr id="19" name="label-bg">
            <a:extLst xmlns:a="http://schemas.openxmlformats.org/drawingml/2006/main">
              <a:ext uri="{FF2B5EF4-FFF2-40B4-BE49-F238E27FC236}">
                <a16:creationId xmlns:a16="http://schemas.microsoft.com/office/drawing/2014/main" id="{3230257F-3D5F-4555-8A92-34C4CAF1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26A530B5-48E7-462B-A9A2-FEF0DD7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fallback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D36351E-58D6-406E-A602-A11FBD7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5777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機能制約時のみ、非公開bucketの2〜5分署名URL。job終了で即削除。</a:t>
            </a:r>
          </a:p>
        </p:txBody>
      </p:sp>
    </p:spTree>
    <p:extLst>
      <p:ext uri="{BB962C8B-B14F-4D97-AF65-F5344CB8AC3E}">
        <p14:creationId xmlns:p14="http://schemas.microsoft.com/office/powerpoint/2010/main" val="225797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DE0EEDC4-D58D-46F2-96C6-660774EC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06 / SAFETY &amp; CONSENT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0E09AA-2BC9-45AB-B829-58C076F6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同意か安全判定が欠けたら、外部呼び出しは0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FE48855-8551-4E1A-9046-5B63C795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14936E-5E2A-4B1A-A498-F35EE439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safety-route">
            <a:extLst xmlns:a="http://schemas.openxmlformats.org/drawingml/2006/main">
              <a:ext uri="{FF2B5EF4-FFF2-40B4-BE49-F238E27FC236}">
                <a16:creationId xmlns:a16="http://schemas.microsoft.com/office/drawing/2014/main" id="{0AA23C38-0A34-4523-876D-572DB849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666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A1F0DAD-F286-4A07-8640-A33B5154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安全・同意gate</a:t>
            </a:r>
          </a:p>
        </p:txBody>
      </p:sp>
      <p:sp>
        <p:nvSpPr>
          <p:cNvPr id="7" name="dot">
            <a:extLst xmlns:a="http://schemas.openxmlformats.org/drawingml/2006/main">
              <a:ext uri="{FF2B5EF4-FFF2-40B4-BE49-F238E27FC236}">
                <a16:creationId xmlns:a16="http://schemas.microsoft.com/office/drawing/2014/main" id="{274796E8-872E-4449-95E3-95B7AD9A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5F38318-1961-4C12-96D0-69D59E1F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813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replyFinal + conversationId</a:t>
            </a:r>
          </a:p>
        </p:txBody>
      </p:sp>
      <p:sp>
        <p:nvSpPr>
          <p:cNvPr id="9" name="dot">
            <a:extLst xmlns:a="http://schemas.openxmlformats.org/drawingml/2006/main">
              <a:ext uri="{FF2B5EF4-FFF2-40B4-BE49-F238E27FC236}">
                <a16:creationId xmlns:a16="http://schemas.microsoft.com/office/drawing/2014/main" id="{A2D3D643-1D1F-441A-9F0E-45020C14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74A91C7-0A48-4427-9810-ED78C55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通常route + 明示的な安全許可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EC120139-3D01-4D50-8EFE-F41DA85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20CCEF2-DB57-4E81-9A87-4A7CC51B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386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写真・声・外部送信の家庭別同意</a:t>
            </a:r>
          </a:p>
        </p:txBody>
      </p:sp>
      <p:sp>
        <p:nvSpPr>
          <p:cNvPr id="13" name="blocked-result">
            <a:extLst xmlns:a="http://schemas.openxmlformats.org/drawingml/2006/main">
              <a:ext uri="{FF2B5EF4-FFF2-40B4-BE49-F238E27FC236}">
                <a16:creationId xmlns:a16="http://schemas.microsoft.com/office/drawing/2014/main" id="{7E13B584-8325-44CD-8A61-ACE4375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85950"/>
            <a:ext cx="3981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7F77C7E-A338-465F-9993-3A0501E7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BLOCKED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3A1902D-679B-4D8D-9B5F-6ABD6EFE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 0-call / D-ID 0-call</a:t>
            </a:r>
          </a:p>
        </p:txBody>
      </p:sp>
      <p:sp>
        <p:nvSpPr>
          <p:cNvPr id="16" name="allowed-result">
            <a:extLst xmlns:a="http://schemas.openxmlformats.org/drawingml/2006/main">
              <a:ext uri="{FF2B5EF4-FFF2-40B4-BE49-F238E27FC236}">
                <a16:creationId xmlns:a16="http://schemas.microsoft.com/office/drawing/2014/main" id="{2AD779ED-EFDF-4AD3-9290-41D7C303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3981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EFCF661-9310-4B13-8B7E-7853F80F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29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ALLOWED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2F9ACD5-B377-4380-9D97-BD72D765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dedup後に1 jobだけ開始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4973FEA-1CF5-40EE-9889-1ACFB9FC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435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4A4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84A4A"/>
                </a:solidFill>
                <a:latin typeface="Yu Gothic"/>
                <a:ea typeface="Yu Gothic"/>
                <a:cs typeface="Yu Gothic"/>
              </a:rPr>
              <a:t>API key・AES鍵・会話本文・素材・署名URLをGit / logへ置かない。</a:t>
            </a:r>
          </a:p>
        </p:txBody>
      </p:sp>
    </p:spTree>
    <p:extLst>
      <p:ext uri="{BB962C8B-B14F-4D97-AF65-F5344CB8AC3E}">
        <p14:creationId xmlns:p14="http://schemas.microsoft.com/office/powerpoint/2010/main" val="1651959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9B56B245-61DF-45A8-9AEC-C61ADAC8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07 / PROTOTYPE STATUS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15643D-B12A-473D-B333-C8BFACA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mockでは22/22。口同期品質だけが未証明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2930FAF-74D3-4E12-B52D-3F10ED78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6F453-217D-4689-8EC0-31AA97F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test-score">
            <a:extLst xmlns:a="http://schemas.openxmlformats.org/drawingml/2006/main">
              <a:ext uri="{FF2B5EF4-FFF2-40B4-BE49-F238E27FC236}">
                <a16:creationId xmlns:a16="http://schemas.microsoft.com/office/drawing/2014/main" id="{C1BB3D9C-F5F5-4BF0-AB03-BE17A31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143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BD56D57-E98D-4FEC-82B8-E73CB919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609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22/22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4F3A032-6CE2-4428-ABE2-483679DE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DCBF4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6DCBF4"/>
                </a:solidFill>
                <a:latin typeface="Yu Gothic"/>
                <a:ea typeface="Yu Gothic"/>
                <a:cs typeface="Yu Gothic"/>
              </a:rPr>
              <a:t>mock tests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650BE6-06C4-44D8-8B83-D5A0CC73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外部API・有料処理なし</a:t>
            </a:r>
          </a:p>
        </p:txBody>
      </p:sp>
      <p:sp>
        <p:nvSpPr>
          <p:cNvPr id="9" name="label-bg">
            <a:extLst xmlns:a="http://schemas.openxmlformats.org/drawingml/2006/main">
              <a:ext uri="{FF2B5EF4-FFF2-40B4-BE49-F238E27FC236}">
                <a16:creationId xmlns:a16="http://schemas.microsoft.com/office/drawing/2014/main" id="{E3EE6B61-4E26-4795-A2BF-69F5AE06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5169E077-D696-4D77-9826-EDF81BF6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9547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実装済み</a:t>
            </a:r>
          </a:p>
        </p:txBody>
      </p:sp>
      <p:sp>
        <p:nvSpPr>
          <p:cNvPr id="11" name="dot">
            <a:extLst xmlns:a="http://schemas.openxmlformats.org/drawingml/2006/main">
              <a:ext uri="{FF2B5EF4-FFF2-40B4-BE49-F238E27FC236}">
                <a16:creationId xmlns:a16="http://schemas.microsoft.com/office/drawing/2014/main" id="{95EDC24C-C619-4571-93B1-2F50B92E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14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121D3AA-EAA1-4E38-8F78-3DC5AF1D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dedup / safety gate</a:t>
            </a:r>
          </a:p>
        </p:txBody>
      </p:sp>
      <p:sp>
        <p:nvSpPr>
          <p:cNvPr id="13" name="dot">
            <a:extLst xmlns:a="http://schemas.openxmlformats.org/drawingml/2006/main">
              <a:ext uri="{FF2B5EF4-FFF2-40B4-BE49-F238E27FC236}">
                <a16:creationId xmlns:a16="http://schemas.microsoft.com/office/drawing/2014/main" id="{18175985-9F03-4A76-8992-9717D6A6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24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45BCFA-A1C4-4816-B4C9-4A11244F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poll / timeout / cleanup</a:t>
            </a:r>
          </a:p>
        </p:txBody>
      </p:sp>
      <p:sp>
        <p:nvSpPr>
          <p:cNvPr id="15" name="dot">
            <a:extLst xmlns:a="http://schemas.openxmlformats.org/drawingml/2006/main">
              <a:ext uri="{FF2B5EF4-FFF2-40B4-BE49-F238E27FC236}">
                <a16:creationId xmlns:a16="http://schemas.microsoft.com/office/drawing/2014/main" id="{C47E91C3-E9EF-4BF1-9D66-B9BF98B5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33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D39399-0C4D-4970-91F3-C860C07A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195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embedded audioのみ</a:t>
            </a:r>
          </a:p>
        </p:txBody>
      </p:sp>
      <p:sp>
        <p:nvSpPr>
          <p:cNvPr id="17" name="dot">
            <a:extLst xmlns:a="http://schemas.openxmlformats.org/drawingml/2006/main">
              <a:ext uri="{FF2B5EF4-FFF2-40B4-BE49-F238E27FC236}">
                <a16:creationId xmlns:a16="http://schemas.microsoft.com/office/drawing/2014/main" id="{D2F9C30B-D396-4817-915F-125A8104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B85A1C-AF44-4654-B6F2-B1CC141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29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字幕完全一致 / 会話継続</a:t>
            </a:r>
          </a:p>
        </p:txBody>
      </p:sp>
      <p:sp>
        <p:nvSpPr>
          <p:cNvPr id="19" name="live-gap">
            <a:extLst xmlns:a="http://schemas.openxmlformats.org/drawingml/2006/main">
              <a:ext uri="{FF2B5EF4-FFF2-40B4-BE49-F238E27FC236}">
                <a16:creationId xmlns:a16="http://schemas.microsoft.com/office/drawing/2014/main" id="{EDECB65A-E71B-4318-B7AB-32DEBFE8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3429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D84A4A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61B5B8-231C-4DBA-97F0-F6C321EC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33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4A4A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D84A4A"/>
                </a:solidFill>
                <a:latin typeface="Yu Gothic"/>
                <a:ea typeface="Yu Gothic"/>
                <a:cs typeface="Yu Gothic"/>
              </a:rPr>
              <a:t>未実行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7C6DBA0-93AE-4005-A1EF-091F836E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live D-ID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6640E5A-CA64-41C9-BE44-F9BA1E00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895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口の追従</a:t>
            </a:r>
          </a:p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実latency / credit</a:t>
            </a:r>
          </a:p>
          <a:p xmlns:a="http://schemas.openxmlformats.org/drawingml/2006/main">
            <a:pPr algn="l">
              <a:def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CDN header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6F29E63-D9BE-4407-B76C-B64A835C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結論：経路の安全性は試せた。デモの説得力はlive MP4でしか埋まらない。</a:t>
            </a:r>
          </a:p>
        </p:txBody>
      </p:sp>
    </p:spTree>
    <p:extLst>
      <p:ext uri="{BB962C8B-B14F-4D97-AF65-F5344CB8AC3E}">
        <p14:creationId xmlns:p14="http://schemas.microsoft.com/office/powerpoint/2010/main" val="729583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">
            <a:extLst xmlns:a="http://schemas.openxmlformats.org/drawingml/2006/main">
              <a:ext uri="{FF2B5EF4-FFF2-40B4-BE49-F238E27FC236}">
                <a16:creationId xmlns:a16="http://schemas.microsoft.com/office/drawing/2014/main" id="{932D4B64-8C98-454E-965E-0092CBDF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08 / COST &amp; PRICING HYPOTHESIS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6EE892-8FE2-4142-91DE-6468B4B4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短尺1回約34円。無制限プランは成立しない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82F575-7866-4E1D-81E8-A942F3F0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F96D46-E8DC-42F6-AEAF-8BDAD3A8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cost-main">
            <a:extLst xmlns:a="http://schemas.openxmlformats.org/drawingml/2006/main">
              <a:ext uri="{FF2B5EF4-FFF2-40B4-BE49-F238E27FC236}">
                <a16:creationId xmlns:a16="http://schemas.microsoft.com/office/drawing/2014/main" id="{B1B39C9E-B4A8-4AC5-9319-A749107B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2004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7591A74-2355-48BB-8523-FCD799E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705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約26円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CD5B637-759E-421A-9EA8-35BBB88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DCBF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6DCBF4"/>
                </a:solidFill>
                <a:latin typeface="Yu Gothic"/>
                <a:ea typeface="Yu Gothic"/>
                <a:cs typeface="Yu Gothic"/>
              </a:rPr>
              <a:t>D-ID / 15秒以内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EF20D78B-BE07-4C6C-88AB-8305C9D0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8B3025-DDFD-45FF-AA5E-9D748A01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予備・周辺費込み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EDCF0F-B69A-4EB9-AC97-6129EB2F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約34円 / 回</a:t>
            </a:r>
          </a:p>
        </p:txBody>
      </p:sp>
      <p:sp>
        <p:nvSpPr>
          <p:cNvPr id="11" name="starter-plan">
            <a:extLst xmlns:a="http://schemas.openxmlformats.org/drawingml/2006/main">
              <a:ext uri="{FF2B5EF4-FFF2-40B4-BE49-F238E27FC236}">
                <a16:creationId xmlns:a16="http://schemas.microsoft.com/office/drawing/2014/main" id="{778DB3D5-F45E-45D8-AC1F-A30DFC9D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17C61-4380-4B08-B542-36FC2F9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764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Starter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01434B-B494-4236-9C89-CF8623B9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980円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FE7FFDE-5E7A-4FAF-A332-5FD6054A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671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短尺 10回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54EC25-12A1-4030-A2AD-A0FC069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624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原価仮説 約333円</a:t>
            </a:r>
          </a:p>
        </p:txBody>
      </p:sp>
      <p:sp>
        <p:nvSpPr>
          <p:cNvPr id="16" name="plus-plan">
            <a:extLst xmlns:a="http://schemas.openxmlformats.org/drawingml/2006/main">
              <a:ext uri="{FF2B5EF4-FFF2-40B4-BE49-F238E27FC236}">
                <a16:creationId xmlns:a16="http://schemas.microsoft.com/office/drawing/2014/main" id="{7504BC56-5DF0-4AFB-B350-2C684A17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90700"/>
            <a:ext cx="3714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EAF6AFB-A356-4EA7-A6E8-05E8CFC8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Plus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692669A-DFF1-4E65-B81B-952D6B4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1,980円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F0CE9B1-3AE8-4CE0-8228-4543997D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短尺 30回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3B60AA2-95BA-4ECA-AFAD-63EEB2D1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原価仮説 約997円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115F63E-6717-4DA3-8ED4-04EAC8C9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販売価格ではなく検証する価格案。秒数・失敗率・再生成をliveで測る。</a:t>
            </a:r>
          </a:p>
        </p:txBody>
      </p:sp>
    </p:spTree>
    <p:extLst>
      <p:ext uri="{BB962C8B-B14F-4D97-AF65-F5344CB8AC3E}">
        <p14:creationId xmlns:p14="http://schemas.microsoft.com/office/powerpoint/2010/main" val="253001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2E3F9648-99B7-46FE-870A-18873B6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09 / READINESS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4A4D5-8E86-43B8-B3E7-CD7F818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辛口評価19/40。弱点は技術より“証拠”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D48692-C6A3-43B1-8F74-BC59932E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CDF928-1D7A-4077-8875-76F8526D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score">
            <a:extLst xmlns:a="http://schemas.openxmlformats.org/drawingml/2006/main">
              <a:ext uri="{FF2B5EF4-FFF2-40B4-BE49-F238E27FC236}">
                <a16:creationId xmlns:a16="http://schemas.microsoft.com/office/drawing/2014/main" id="{5682370C-FFE3-4D22-9B57-663165AF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429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6AA021C-5D50-4EBD-91C2-DD73F00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6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CDEA4F5-D072-45BC-8896-73E2A7EC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6DCBF4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6DCBF4"/>
                </a:solidFill>
                <a:latin typeface="Yu Gothic"/>
                <a:ea typeface="Yu Gothic"/>
                <a:cs typeface="Yu Gothic"/>
              </a:rPr>
              <a:t>/40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FEC73F-BC21-444B-B759-73D9AD4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705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提出前の内部辛口評価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C10E9B-DFE9-4BBE-949B-BE5A74B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0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実装説明だけでは点にならない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D09A7AB-8077-4124-B46C-0935DC41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1E16B21-B278-41CD-89D1-E2E22A21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BCAF62A-389F-47BF-AABF-97E2BF36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コード・動画・記事を締切前に揃える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CD894EE8-BE11-4766-B6EC-29233F6A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95550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1956B83-FC71-4644-A4B7-22A2583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43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364ABA-2506-429D-93F5-4B4CA3F7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認証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6836AE4-DA74-4CD7-9086-C1A8E9EF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241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内部配信の本人・家庭境界が未実装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C2169D99-8883-486B-B2D5-134C0089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71850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868300-1846-4784-8E61-A668284A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19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ED9F4DF-1515-4ADF-92D2-C9413C92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81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当事者検証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A2120BA-3D47-41F2-8B0C-08DEC92A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同意済み家庭の反応データがない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5BEF6C2C-BFB0-4D55-A5E6-A14D4C5B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47499E8-B35E-4348-AFFE-5383FF50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8A65030B-835B-4990-9E73-65D3CA4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57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live demo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FE2D8DC2-9EA6-41E0-9F71-8A185E36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口同期MP4の受入が未証明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91BEF88E-3DDD-490C-9E81-B5C3F6CA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24450"/>
            <a:ext cx="699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6DFB174-B238-4703-AA50-C69EDD7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審査は8項目×5点。完成度・デモ、セキュリティ、コストを“見せる”必要がある。</a:t>
            </a:r>
          </a:p>
        </p:txBody>
      </p:sp>
    </p:spTree>
    <p:extLst>
      <p:ext uri="{BB962C8B-B14F-4D97-AF65-F5344CB8AC3E}">
        <p14:creationId xmlns:p14="http://schemas.microsoft.com/office/powerpoint/2010/main" val="40323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A571EE62-F65E-4377-BB89-5418B083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10 / FUTURE SCOPE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8D35A7-198C-466E-AF46-67B5AE1A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将来は“親以外が操作”できる。ただし家庭境界が先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3CB33D-82B5-4FCB-93B3-0254249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6CDA4E-BDA8-4B8F-B01F-C7F04C86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home-use">
            <a:extLst xmlns:a="http://schemas.openxmlformats.org/drawingml/2006/main">
              <a:ext uri="{FF2B5EF4-FFF2-40B4-BE49-F238E27FC236}">
                <a16:creationId xmlns:a16="http://schemas.microsoft.com/office/drawing/2014/main" id="{69BA8249-7C96-4F5B-844D-0D5D5C6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953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-bg">
            <a:extLst xmlns:a="http://schemas.openxmlformats.org/drawingml/2006/main">
              <a:ext uri="{FF2B5EF4-FFF2-40B4-BE49-F238E27FC236}">
                <a16:creationId xmlns:a16="http://schemas.microsoft.com/office/drawing/2014/main" id="{3B89D192-AD2C-44C6-90D7-973BC934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B1E17949-C2C4-4070-9723-B8DC1AD7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現在の中心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FD69DA1-B91B-4069-BACA-F88230C3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父親など、もう一人の保護者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F20B799E-12C4-4599-AE5E-A928C8F9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457450"/>
            <a:ext cx="7810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facility-use">
            <a:extLst xmlns:a="http://schemas.openxmlformats.org/drawingml/2006/main">
              <a:ext uri="{FF2B5EF4-FFF2-40B4-BE49-F238E27FC236}">
                <a16:creationId xmlns:a16="http://schemas.microsoft.com/office/drawing/2014/main" id="{744C506A-9A67-45E8-A3B0-7C092B3D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972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1" name="label-bg">
            <a:extLst xmlns:a="http://schemas.openxmlformats.org/drawingml/2006/main">
              <a:ext uri="{FF2B5EF4-FFF2-40B4-BE49-F238E27FC236}">
                <a16:creationId xmlns:a16="http://schemas.microsoft.com/office/drawing/2014/main" id="{96671658-25F5-4708-93BB-3B6D14D8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193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6B083F87-128B-4BBB-AC90-40C111E2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6692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将来案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4035B3-9B60-4043-A300-84249E3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4438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ベビーシッター / 保育園の先生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22A0DDF-0E11-4B90-A87C-1132D576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11087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保護者写真・声は家庭ごとの明示同意。施設が包括同意してよい素材ではない。</a:t>
            </a:r>
          </a:p>
        </p:txBody>
      </p:sp>
      <p:sp>
        <p:nvSpPr>
          <p:cNvPr id="15" name="future-req-0">
            <a:extLst xmlns:a="http://schemas.openxmlformats.org/drawingml/2006/main">
              <a:ext uri="{FF2B5EF4-FFF2-40B4-BE49-F238E27FC236}">
                <a16:creationId xmlns:a16="http://schemas.microsoft.com/office/drawing/2014/main" id="{45824F13-C7F5-4744-9AAB-8DA87882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ECC0ED-9152-4D5F-9EF6-05E28583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本人認証</a:t>
            </a:r>
          </a:p>
        </p:txBody>
      </p:sp>
      <p:sp>
        <p:nvSpPr>
          <p:cNvPr id="17" name="future-req-1">
            <a:extLst xmlns:a="http://schemas.openxmlformats.org/drawingml/2006/main">
              <a:ext uri="{FF2B5EF4-FFF2-40B4-BE49-F238E27FC236}">
                <a16:creationId xmlns:a16="http://schemas.microsoft.com/office/drawing/2014/main" id="{5FDCAFB2-A3DA-48B3-ACB7-22304EA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149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5EE776-66AF-43FD-A848-63F7B21D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児童 / 家庭分離</a:t>
            </a:r>
          </a:p>
        </p:txBody>
      </p:sp>
      <p:sp>
        <p:nvSpPr>
          <p:cNvPr id="19" name="future-req-2">
            <a:extLst xmlns:a="http://schemas.openxmlformats.org/drawingml/2006/main">
              <a:ext uri="{FF2B5EF4-FFF2-40B4-BE49-F238E27FC236}">
                <a16:creationId xmlns:a16="http://schemas.microsoft.com/office/drawing/2014/main" id="{8E9BF906-0F68-4619-897F-F207EF73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E2D0C8B-6667-483F-961F-C45A8062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RBAC</a:t>
            </a:r>
          </a:p>
        </p:txBody>
      </p:sp>
      <p:sp>
        <p:nvSpPr>
          <p:cNvPr id="21" name="future-req-3">
            <a:extLst xmlns:a="http://schemas.openxmlformats.org/drawingml/2006/main">
              <a:ext uri="{FF2B5EF4-FFF2-40B4-BE49-F238E27FC236}">
                <a16:creationId xmlns:a16="http://schemas.microsoft.com/office/drawing/2014/main" id="{8B106109-42D1-4684-BC01-9D7F2AA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948A123-5C7A-4601-A038-90C845B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職員監査</a:t>
            </a:r>
          </a:p>
        </p:txBody>
      </p:sp>
      <p:sp>
        <p:nvSpPr>
          <p:cNvPr id="23" name="future-req-4">
            <a:extLst xmlns:a="http://schemas.openxmlformats.org/drawingml/2006/main">
              <a:ext uri="{FF2B5EF4-FFF2-40B4-BE49-F238E27FC236}">
                <a16:creationId xmlns:a16="http://schemas.microsoft.com/office/drawing/2014/main" id="{77305934-1A84-4F7B-8B8B-8DB0E67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14900"/>
            <a:ext cx="1943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3410C21-FB08-4F33-9420-ECAEDB43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撤回・削除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F779D8E-B6CE-4A8D-89E9-6CD4FBE0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483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4A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84A4A"/>
                </a:solidFill>
                <a:latin typeface="Yu Gothic"/>
                <a:ea typeface="Yu Gothic"/>
                <a:cs typeface="Yu Gothic"/>
              </a:rPr>
              <a:t>施設展開は上記が実装されてからのPoC。</a:t>
            </a:r>
          </a:p>
        </p:txBody>
      </p:sp>
    </p:spTree>
    <p:extLst>
      <p:ext uri="{BB962C8B-B14F-4D97-AF65-F5344CB8AC3E}">
        <p14:creationId xmlns:p14="http://schemas.microsoft.com/office/powerpoint/2010/main" val="10941229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">
            <a:extLst xmlns:a="http://schemas.openxmlformats.org/drawingml/2006/main">
              <a:ext uri="{FF2B5EF4-FFF2-40B4-BE49-F238E27FC236}">
                <a16:creationId xmlns:a16="http://schemas.microsoft.com/office/drawing/2014/main" id="{9D9905A2-E853-4435-8F78-258E9B2D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11 / DEADLINE P0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B5D4A9-005B-40DE-ADF3-DB86A655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締切前P0は、統合より“証拠化”を優先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43B8B1-7411-4B54-83FD-DC64F96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024D42-B42C-422B-A6D0-77926681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6F651F95-63CA-4242-B674-47C6D6E0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33750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8E7CCED2-5A35-4A43-9AE7-5A7FA078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699F6910-5323-4A4D-8CA4-78445AF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8B77F03-B195-4155-AB82-315E3CDF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33750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p0-step-0">
            <a:extLst xmlns:a="http://schemas.openxmlformats.org/drawingml/2006/main">
              <a:ext uri="{FF2B5EF4-FFF2-40B4-BE49-F238E27FC236}">
                <a16:creationId xmlns:a16="http://schemas.microsoft.com/office/drawing/2014/main" id="{31AEDFC0-37D8-48FA-9A5A-A01D67B8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7145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7E739D1-F87E-47E3-92B3-5114A790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A2D9630-484A-40E5-82AC-A5254C33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branch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review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F2CF6C5-1AC9-4BD7-916E-AFFF5005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差分 / 安全境界</a:t>
            </a:r>
          </a:p>
        </p:txBody>
      </p:sp>
      <p:sp>
        <p:nvSpPr>
          <p:cNvPr id="13" name="p0-step-1">
            <a:extLst xmlns:a="http://schemas.openxmlformats.org/drawingml/2006/main">
              <a:ext uri="{FF2B5EF4-FFF2-40B4-BE49-F238E27FC236}">
                <a16:creationId xmlns:a16="http://schemas.microsoft.com/office/drawing/2014/main" id="{8DC45798-5C9E-494F-8D94-6F83B985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17145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293B62-61F0-40A6-9151-8D8E8CEE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0B00498-96B8-481E-91A8-4C3E461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feature flag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統合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6D7D90E-CE5E-4B77-AC67-45037301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43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fallback保持</a:t>
            </a:r>
          </a:p>
        </p:txBody>
      </p:sp>
      <p:sp>
        <p:nvSpPr>
          <p:cNvPr id="17" name="p0-step-2">
            <a:extLst xmlns:a="http://schemas.openxmlformats.org/drawingml/2006/main">
              <a:ext uri="{FF2B5EF4-FFF2-40B4-BE49-F238E27FC236}">
                <a16:creationId xmlns:a16="http://schemas.microsoft.com/office/drawing/2014/main" id="{6B179301-065D-4CF6-BD8E-D20BD722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17145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C2F5885-2F2C-44C0-A4C1-947CA27A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4C28C95-FC90-4FC8-B848-34E40FC3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live 1〜3回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11C6EF6-373A-4F5A-AF8B-60B178A4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43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品質 / 時間 /</a:t>
            </a:r>
          </a:p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credit</a:t>
            </a:r>
          </a:p>
        </p:txBody>
      </p:sp>
      <p:sp>
        <p:nvSpPr>
          <p:cNvPr id="21" name="p0-step-3">
            <a:extLst xmlns:a="http://schemas.openxmlformats.org/drawingml/2006/main">
              <a:ext uri="{FF2B5EF4-FFF2-40B4-BE49-F238E27FC236}">
                <a16:creationId xmlns:a16="http://schemas.microsoft.com/office/drawing/2014/main" id="{569C4A80-A3FB-4454-96C7-ACDFE7DE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17145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FF095A7-3343-4551-AFED-75CDDDFC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4595F806-6CDB-480D-B8EF-15D4EABA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3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通常2往復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+ 安全route録画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5DEB3AA-0A57-4283-9AB1-41A04A68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0-call 証拠化</a:t>
            </a:r>
          </a:p>
        </p:txBody>
      </p:sp>
      <p:sp>
        <p:nvSpPr>
          <p:cNvPr id="25" name="p0-step-4">
            <a:extLst xmlns:a="http://schemas.openxmlformats.org/drawingml/2006/main">
              <a:ext uri="{FF2B5EF4-FFF2-40B4-BE49-F238E27FC236}">
                <a16:creationId xmlns:a16="http://schemas.microsoft.com/office/drawing/2014/main" id="{790FCF1D-2495-4177-9F20-51FA12A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7145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1A156A0-9157-4EFA-AD71-2F23FF43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6ABC267-BC78-41F9-B507-884B706B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908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FFFC729-A3CE-4533-90FB-BA99FE6E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3350"/>
            <a:ext cx="144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code / video /</a:t>
            </a:r>
          </a:p>
          <a:p xmlns:a="http://schemas.openxmlformats.org/drawingml/2006/main">
            <a:pPr algn="ctr">
              <a:def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article</a:t>
            </a:r>
          </a:p>
        </p:txBody>
      </p:sp>
      <p:sp>
        <p:nvSpPr>
          <p:cNvPr id="29" name="p0-proof">
            <a:extLst xmlns:a="http://schemas.openxmlformats.org/drawingml/2006/main">
              <a:ext uri="{FF2B5EF4-FFF2-40B4-BE49-F238E27FC236}">
                <a16:creationId xmlns:a16="http://schemas.microsoft.com/office/drawing/2014/main" id="{EEC37F21-04A9-410F-850D-BB58277B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087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2199034-42FA-44D5-858A-9CF53113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完成条件：口同期MP4 + 通常2往復 + 安全route 0-callを、3分以内で連続して見せる</a:t>
            </a:r>
          </a:p>
        </p:txBody>
      </p:sp>
    </p:spTree>
    <p:extLst>
      <p:ext uri="{BB962C8B-B14F-4D97-AF65-F5344CB8AC3E}">
        <p14:creationId xmlns:p14="http://schemas.microsoft.com/office/powerpoint/2010/main" val="1643664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EF8339C3-F9F2-4282-8E52-94555506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12 / RISKS &amp; DECISIONS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1BBCA3-B794-4425-83E6-3B203961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今日決めるのは、live実証の範囲と責任者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09A4F9B-A4A6-4FC5-AC6B-DD7DA544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B0712D-0376-4502-BCE3-0520EA29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B6470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label-bg">
            <a:extLst xmlns:a="http://schemas.openxmlformats.org/drawingml/2006/main">
              <a:ext uri="{FF2B5EF4-FFF2-40B4-BE49-F238E27FC236}">
                <a16:creationId xmlns:a16="http://schemas.microsoft.com/office/drawing/2014/main" id="{7A22E09F-122F-4BBF-B3D9-0ABA59E1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abel">
            <a:extLst xmlns:a="http://schemas.openxmlformats.org/drawingml/2006/main">
              <a:ext uri="{FF2B5EF4-FFF2-40B4-BE49-F238E27FC236}">
                <a16:creationId xmlns:a16="http://schemas.microsoft.com/office/drawing/2014/main" id="{157F272F-5EFF-414D-B2A4-31602AB0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02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LIVE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C0E9DA0-D43A-4F04-9CF7-DC0BC4FF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33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口同期品質・latency・credit・CDN header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F9235C6-314F-47A0-896A-0B62A729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D84A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84A4A"/>
                </a:solidFill>
                <a:latin typeface="Yu Gothic"/>
                <a:ea typeface="Yu Gothic"/>
                <a:cs typeface="Yu Gothic"/>
              </a:rPr>
              <a:t>1〜3回で測る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21ADB34-4AFF-4785-8142-000F0366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05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-bg">
            <a:extLst xmlns:a="http://schemas.openxmlformats.org/drawingml/2006/main">
              <a:ext uri="{FF2B5EF4-FFF2-40B4-BE49-F238E27FC236}">
                <a16:creationId xmlns:a16="http://schemas.microsoft.com/office/drawing/2014/main" id="{56C38B61-6960-4611-B49D-6FFDBE60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D329E0E0-6D1C-4731-91E4-58B1A323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AUTH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B917A1-F103-4B55-8885-2D955E31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098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復号配信、家庭認可、Range / no-store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CDE934-E23D-4A7A-A1A3-E523F8A0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09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demo限定を明示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64F37E71-12DD-4C1B-851D-5E6CA59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bel-bg">
            <a:extLst xmlns:a="http://schemas.openxmlformats.org/drawingml/2006/main">
              <a:ext uri="{FF2B5EF4-FFF2-40B4-BE49-F238E27FC236}">
                <a16:creationId xmlns:a16="http://schemas.microsoft.com/office/drawing/2014/main" id="{D128452B-8728-48D7-B69F-82B05D6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052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D7AD73F5-858C-4CD8-B9D1-DDA5792B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528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OPS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6375F91-4728-4217-9179-91A51C9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861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永続dedup、cleanup queue、KMS、ffprobe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99A846D-178E-4EC8-A05F-C2842276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86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P1へ切り分け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53B45C5-E68D-4FE3-B4DF-487526E5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57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bel-bg">
            <a:extLst xmlns:a="http://schemas.openxmlformats.org/drawingml/2006/main">
              <a:ext uri="{FF2B5EF4-FFF2-40B4-BE49-F238E27FC236}">
                <a16:creationId xmlns:a16="http://schemas.microsoft.com/office/drawing/2014/main" id="{A84D64EB-8D89-428C-BC29-B4F13311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03B54BEF-BF47-4185-BE1E-9DA734BB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CONSENT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AFE16C7-AF10-4392-8F07-37440B2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624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写真revision、声同意、撤回・削除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B1A7E15-B257-497C-BA2D-9A722789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対象家庭を限定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A2F7DDCC-9344-44BF-BA14-5230E111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339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ecision-call">
            <a:extLst xmlns:a="http://schemas.openxmlformats.org/drawingml/2006/main">
              <a:ext uri="{FF2B5EF4-FFF2-40B4-BE49-F238E27FC236}">
                <a16:creationId xmlns:a16="http://schemas.microsoft.com/office/drawing/2014/main" id="{DE15827C-CFDA-4F1B-B239-AF5E953E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B4C957A-78DA-4406-BF3A-05D4D9EB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GO条件：branch review完了 → feature flag統合 → live枠と同意済み素材を確保</a:t>
            </a:r>
          </a:p>
        </p:txBody>
      </p:sp>
    </p:spTree>
    <p:extLst>
      <p:ext uri="{BB962C8B-B14F-4D97-AF65-F5344CB8AC3E}">
        <p14:creationId xmlns:p14="http://schemas.microsoft.com/office/powerpoint/2010/main" val="517592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2026-08-14T11:50:08.1690000Z</dcterms:created>
  <dcterms:modified xsi:type="dcterms:W3CDTF">2026-08-14T11:50:08.1690000Z</dcterms:modified>
</coreProperties>
</file>