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a43be2fed54350" /><Relationship Type="http://schemas.openxmlformats.org/officeDocument/2006/relationships/extended-properties" Target="/docProps/app.xml" Id="R1cc78ccc441d47fa" /><Relationship Type="http://schemas.openxmlformats.org/officeDocument/2006/relationships/officeDocument" Target="/ppt/presentation.xml" Id="R9dd09df3a5b84d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023ecbf0ed4d90"/>
  </p:sldMasterIdLst>
  <p:notesMasterIdLst>
    <p:notesMasterId xmlns:r="http://schemas.openxmlformats.org/officeDocument/2006/relationships" r:id="R446f34a1a3e0493e"/>
  </p:notesMasterIdLst>
  <p:sldIdLst>
    <p:sldId xmlns:r="http://schemas.openxmlformats.org/officeDocument/2006/relationships" id="256" r:id="R8eadfa80d3284e8f"/>
    <p:sldId xmlns:r="http://schemas.openxmlformats.org/officeDocument/2006/relationships" id="257" r:id="Rd9e7b91d124b41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8dc19f4fe94130" /><Relationship Type="http://schemas.openxmlformats.org/officeDocument/2006/relationships/slideMaster" Target="/ppt/slideMasters/slideMaster1.xml" Id="Rcb023ecbf0ed4d90" /><Relationship Type="http://schemas.openxmlformats.org/officeDocument/2006/relationships/notesMaster" Target="/ppt/notesMasters/notesMaster1.xml" Id="R446f34a1a3e0493e" /><Relationship Type="http://schemas.openxmlformats.org/officeDocument/2006/relationships/presProps" Target="/ppt/presProps.xml" Id="R4ffe9fedba7345ee" /><Relationship Type="http://schemas.openxmlformats.org/officeDocument/2006/relationships/tableStyles" Target="/ppt/tableStyles.xml" Id="R3ccb170c7eeb4c4f" /><Relationship Type="http://schemas.openxmlformats.org/officeDocument/2006/relationships/slide" Target="/ppt/slides/slide1.xml" Id="R8eadfa80d3284e8f" /><Relationship Type="http://schemas.openxmlformats.org/officeDocument/2006/relationships/slide" Target="/ppt/slides/slide2.xml" Id="Rd9e7b91d124b41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2dfc014b7a48c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f545d376414bc4" /><Relationship Type="http://schemas.openxmlformats.org/officeDocument/2006/relationships/notesMaster" Target="/ppt/notesMasters/notesMaster1.xml" Id="Rc664a3f4f94045d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772fb34ac6e4f0c" /><Relationship Type="http://schemas.openxmlformats.org/officeDocument/2006/relationships/notesMaster" Target="/ppt/notesMasters/notesMaster1.xml" Id="R2e27b898835348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README.md（現在の実装、OrcaRouterの役割、生成動画、暗号化保存）</a:t>
            </a:r>
          </a:p>
          <a:p xmlns:a="http://schemas.openxmlformats.org/drawingml/2006/main">
            <a:r>
              <a:t>- public/app.js（conversationId、生成MP4・ブラウザ音声・字幕の同時再生）</a:t>
            </a:r>
          </a:p>
          <a:p xmlns:a="http://schemas.openxmlformats.org/drawingml/2006/main">
            <a:r>
              <a:t>- server.mjs（Node API、動画生成ジョブ、判定、返答バンドル）</a:t>
            </a:r>
          </a:p>
          <a:p xmlns:a="http://schemas.openxmlformats.org/drawingml/2006/main">
            <a:r>
              <a:t>- lib/providers/stt.mjs / orcarouter.mjs / kling-video.mjs / media.mjs（プロバイダー境界）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https://docs.orcarouter.ai/introduction（OrcaRouterはOpenAI互換APIゲートウェイ）</a:t>
            </a:r>
          </a:p>
          <a:p xmlns:a="http://schemas.openxmlformats.org/drawingml/2006/main">
            <a:r>
              <a:t>- https://docs.orcarouter.ai/other-apis/tts（将来候補の同期TTS）</a:t>
            </a:r>
          </a:p>
          <a:p xmlns:a="http://schemas.openxmlformats.org/drawingml/2006/main">
            <a:r>
              <a:t>- https://docs.orcarouter.ai/kling-video/overview（非同期 /v1/video/generations、典型30〜90秒、image_list）</a:t>
            </a:r>
          </a:p>
          <a:p xmlns:a="http://schemas.openxmlformats.org/drawingml/2006/main">
            <a:r>
              <a:t>- README.md / server.mjs / lib/providers/kling-video.mjs（実装済みKlingジョブと保存）</a:t>
            </a:r>
          </a:p>
          <a:p xmlns:a="http://schemas.openxmlformats.org/drawingml/2006/main">
            <a:r>
              <a:t>- public/app.js（保存動画・動的音声・字幕の同時再生）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9734bebb9840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add206fbf44744" /><Relationship Type="http://schemas.openxmlformats.org/officeDocument/2006/relationships/slideLayout" Target="/ppt/slideLayouts/slideLayout1.xml" Id="R0233bcfc6ab649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33bcfc6ab649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f3febf32e64a6c" /><Relationship Type="http://schemas.openxmlformats.org/officeDocument/2006/relationships/notesSlide" Target="/ppt/notesSlides/notesSlide1.xml" Id="R8b5c5dafc77f4c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3d4891dd04567" /><Relationship Type="http://schemas.openxmlformats.org/officeDocument/2006/relationships/notesSlide" Target="/ppt/notesSlides/notesSlide2.xml" Id="Rea45b52d01cc4b1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455CF5A7-65D3-44EB-88DD-A8DB73E2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B3A"/>
                </a:solidFill>
              </a:defRPr>
            </a:pPr>
            <a:r>
              <a:rPr sz="2850" b="1">
                <a:solidFill>
                  <a:srgbClr val="172B3A"/>
                </a:solidFill>
              </a:rPr>
              <a:t>子どもの声を、安全な3つの返答へ</a:t>
            </a:r>
          </a:p>
        </p:txBody>
      </p:sp>
      <p:sp>
        <p:nvSpPr>
          <p:cNvPr id="2" name="slide-1-subtitle">
            <a:extLst xmlns:a="http://schemas.openxmlformats.org/drawingml/2006/main">
              <a:ext uri="{FF2B5EF4-FFF2-40B4-BE49-F238E27FC236}">
                <a16:creationId xmlns:a16="http://schemas.microsoft.com/office/drawing/2014/main" id="{AAD8E03D-0396-471C-892D-DA5B2F85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0"/>
                </a:solidFill>
              </a:defRPr>
            </a:pPr>
            <a:r>
              <a:rPr sz="1350" b="0">
                <a:solidFill>
                  <a:srgbClr val="5D7180"/>
                </a:solidFill>
              </a:rPr>
              <a:t>現行MVP：OrcaRouterが判断し、生成済み親動画・動的音声・字幕を同時提示</a:t>
            </a:r>
          </a:p>
        </p:txBody>
      </p:sp>
      <p:sp>
        <p:nvSpPr>
          <p:cNvPr id="3" name="slide-1-number">
            <a:extLst xmlns:a="http://schemas.openxmlformats.org/drawingml/2006/main">
              <a:ext uri="{FF2B5EF4-FFF2-40B4-BE49-F238E27FC236}">
                <a16:creationId xmlns:a16="http://schemas.microsoft.com/office/drawing/2014/main" id="{7119BA37-AB1B-43CC-802F-374CC17E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EBA"/>
                </a:solidFill>
              </a:defRPr>
            </a:pPr>
            <a:r>
              <a:rPr sz="1500" b="1">
                <a:solidFill>
                  <a:srgbClr val="147EBA"/>
                </a:solidFill>
              </a:rPr>
              <a:t>01</a:t>
            </a:r>
          </a:p>
        </p:txBody>
      </p:sp>
      <p:sp>
        <p:nvSpPr>
          <p:cNvPr id="4" name="browser-region">
            <a:extLst xmlns:a="http://schemas.openxmlformats.org/drawingml/2006/main">
              <a:ext uri="{FF2B5EF4-FFF2-40B4-BE49-F238E27FC236}">
                <a16:creationId xmlns:a16="http://schemas.microsoft.com/office/drawing/2014/main" id="{2F290795-36C3-4D92-B85C-3F6D098D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181100"/>
            <a:ext cx="430530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7EBA"/>
            </a:solidFill>
            <a:prstDash val="dash"/>
          </a:ln>
        </p:spPr>
      </p:sp>
      <p:sp>
        <p:nvSpPr>
          <p:cNvPr id="5" name="browser-region-label">
            <a:extLst xmlns:a="http://schemas.openxmlformats.org/drawingml/2006/main">
              <a:ext uri="{FF2B5EF4-FFF2-40B4-BE49-F238E27FC236}">
                <a16:creationId xmlns:a16="http://schemas.microsoft.com/office/drawing/2014/main" id="{1F7F0AF4-1419-4956-9A39-CAC79207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573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EBA"/>
                </a:solidFill>
              </a:defRPr>
            </a:pPr>
            <a:r>
              <a:rPr sz="1350" b="1">
                <a:solidFill>
                  <a:srgbClr val="147EBA"/>
                </a:solidFill>
              </a:rPr>
              <a:t>ブラウザ</a:t>
            </a:r>
          </a:p>
        </p:txBody>
      </p:sp>
      <p:sp>
        <p:nvSpPr>
          <p:cNvPr id="6" name="server-region">
            <a:extLst xmlns:a="http://schemas.openxmlformats.org/drawingml/2006/main">
              <a:ext uri="{FF2B5EF4-FFF2-40B4-BE49-F238E27FC236}">
                <a16:creationId xmlns:a16="http://schemas.microsoft.com/office/drawing/2014/main" id="{BCDF613E-3551-4FD9-85BE-D0687CD4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181100"/>
            <a:ext cx="6838950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52F67"/>
            </a:solidFill>
            <a:prstDash val="dash"/>
          </a:ln>
        </p:spPr>
      </p:sp>
      <p:sp>
        <p:nvSpPr>
          <p:cNvPr id="7" name="server-region-label">
            <a:extLst xmlns:a="http://schemas.openxmlformats.org/drawingml/2006/main">
              <a:ext uri="{FF2B5EF4-FFF2-40B4-BE49-F238E27FC236}">
                <a16:creationId xmlns:a16="http://schemas.microsoft.com/office/drawing/2014/main" id="{E0D8AB57-074B-4909-91F2-60A13699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2573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2F67"/>
                </a:solidFill>
              </a:defRPr>
            </a:pPr>
            <a:r>
              <a:rPr sz="1350" b="1">
                <a:solidFill>
                  <a:srgbClr val="D52F67"/>
                </a:solidFill>
              </a:rPr>
              <a:t>Node.js サーバー</a:t>
            </a:r>
          </a:p>
        </p:txBody>
      </p:sp>
      <p:sp>
        <p:nvSpPr>
          <p:cNvPr id="8" name="a-child-capture">
            <a:extLst xmlns:a="http://schemas.openxmlformats.org/drawingml/2006/main">
              <a:ext uri="{FF2B5EF4-FFF2-40B4-BE49-F238E27FC236}">
                <a16:creationId xmlns:a16="http://schemas.microsoft.com/office/drawing/2014/main" id="{A467B11B-08D3-4E1A-B727-B2B34A9B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D7180"/>
            </a:solidFill>
            <a:prstDash val="solid"/>
          </a:ln>
        </p:spPr>
      </p:sp>
      <p:sp>
        <p:nvSpPr>
          <p:cNvPr id="9" name="a-child-capture-head">
            <a:extLst xmlns:a="http://schemas.openxmlformats.org/drawingml/2006/main">
              <a:ext uri="{FF2B5EF4-FFF2-40B4-BE49-F238E27FC236}">
                <a16:creationId xmlns:a16="http://schemas.microsoft.com/office/drawing/2014/main" id="{D819B7B0-23AF-465B-9EAA-89B9AB32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3835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7180"/>
          </a:solidFill>
          <a:ln xmlns:a="http://schemas.openxmlformats.org/drawingml/2006/main" w="0">
            <a:solidFill>
              <a:srgbClr val="5D7180"/>
            </a:solidFill>
            <a:prstDash val="solid"/>
          </a:ln>
        </p:spPr>
      </p:sp>
      <p:sp>
        <p:nvSpPr>
          <p:cNvPr id="10" name="a-capture-ui">
            <a:extLst xmlns:a="http://schemas.openxmlformats.org/drawingml/2006/main">
              <a:ext uri="{FF2B5EF4-FFF2-40B4-BE49-F238E27FC236}">
                <a16:creationId xmlns:a16="http://schemas.microsoft.com/office/drawing/2014/main" id="{18EB2FBD-D9B2-4811-AE71-A98787A5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95500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D7180"/>
            </a:solidFill>
            <a:prstDash val="solid"/>
          </a:ln>
        </p:spPr>
      </p:sp>
      <p:sp>
        <p:nvSpPr>
          <p:cNvPr id="11" name="a-capture-ui-head">
            <a:extLst xmlns:a="http://schemas.openxmlformats.org/drawingml/2006/main">
              <a:ext uri="{FF2B5EF4-FFF2-40B4-BE49-F238E27FC236}">
                <a16:creationId xmlns:a16="http://schemas.microsoft.com/office/drawing/2014/main" id="{0D7D1EA9-EE4B-4BAE-9C07-723A4472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3835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7180"/>
          </a:solidFill>
          <a:ln xmlns:a="http://schemas.openxmlformats.org/drawingml/2006/main" w="0">
            <a:solidFill>
              <a:srgbClr val="5D7180"/>
            </a:solidFill>
            <a:prstDash val="solid"/>
          </a:ln>
        </p:spPr>
      </p:sp>
      <p:sp>
        <p:nvSpPr>
          <p:cNvPr id="12" name="a-ui-api">
            <a:extLst xmlns:a="http://schemas.openxmlformats.org/drawingml/2006/main">
              <a:ext uri="{FF2B5EF4-FFF2-40B4-BE49-F238E27FC236}">
                <a16:creationId xmlns:a16="http://schemas.microsoft.com/office/drawing/2014/main" id="{1DD904E1-84FF-47D1-A7EF-17495896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955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D7180"/>
            </a:solidFill>
            <a:prstDash val="solid"/>
          </a:ln>
        </p:spPr>
      </p:sp>
      <p:sp>
        <p:nvSpPr>
          <p:cNvPr id="13" name="a-ui-api-head">
            <a:extLst xmlns:a="http://schemas.openxmlformats.org/drawingml/2006/main">
              <a:ext uri="{FF2B5EF4-FFF2-40B4-BE49-F238E27FC236}">
                <a16:creationId xmlns:a16="http://schemas.microsoft.com/office/drawing/2014/main" id="{8EB488CC-A5B5-43DA-9EA7-09E0C5CA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03835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7180"/>
          </a:solidFill>
          <a:ln xmlns:a="http://schemas.openxmlformats.org/drawingml/2006/main" w="0">
            <a:solidFill>
              <a:srgbClr val="5D7180"/>
            </a:solidFill>
            <a:prstDash val="solid"/>
          </a:ln>
        </p:spPr>
      </p:sp>
      <p:sp>
        <p:nvSpPr>
          <p:cNvPr id="14" name="a-api-router">
            <a:extLst xmlns:a="http://schemas.openxmlformats.org/drawingml/2006/main">
              <a:ext uri="{FF2B5EF4-FFF2-40B4-BE49-F238E27FC236}">
                <a16:creationId xmlns:a16="http://schemas.microsoft.com/office/drawing/2014/main" id="{6D4F7E11-DFEF-4629-97FB-56A27433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95500"/>
            <a:ext cx="152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5D7180"/>
            </a:solidFill>
            <a:prstDash val="solid"/>
          </a:ln>
        </p:spPr>
      </p:sp>
      <p:sp>
        <p:nvSpPr>
          <p:cNvPr id="15" name="a-api-router-head">
            <a:extLst xmlns:a="http://schemas.openxmlformats.org/drawingml/2006/main">
              <a:ext uri="{FF2B5EF4-FFF2-40B4-BE49-F238E27FC236}">
                <a16:creationId xmlns:a16="http://schemas.microsoft.com/office/drawing/2014/main" id="{93A2E10F-D9FC-4214-99CE-75A1F26D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38350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D7180"/>
          </a:solidFill>
          <a:ln xmlns:a="http://schemas.openxmlformats.org/drawingml/2006/main" w="0">
            <a:solidFill>
              <a:srgbClr val="5D7180"/>
            </a:solidFill>
            <a:prstDash val="solid"/>
          </a:ln>
        </p:spPr>
      </p:sp>
      <p:sp>
        <p:nvSpPr>
          <p:cNvPr id="16" name="a-router-branches">
            <a:extLst xmlns:a="http://schemas.openxmlformats.org/drawingml/2006/main">
              <a:ext uri="{FF2B5EF4-FFF2-40B4-BE49-F238E27FC236}">
                <a16:creationId xmlns:a16="http://schemas.microsoft.com/office/drawing/2014/main" id="{2D00817B-0629-410B-A509-42EF1C66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00325"/>
            <a:ext cx="0" cy="36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52F67"/>
            </a:solidFill>
            <a:prstDash val="solid"/>
          </a:ln>
        </p:spPr>
      </p:sp>
      <p:sp>
        <p:nvSpPr>
          <p:cNvPr id="17" name="a-router-branches-head">
            <a:extLst xmlns:a="http://schemas.openxmlformats.org/drawingml/2006/main">
              <a:ext uri="{FF2B5EF4-FFF2-40B4-BE49-F238E27FC236}">
                <a16:creationId xmlns:a16="http://schemas.microsoft.com/office/drawing/2014/main" id="{02B10054-4302-4AC8-AEFF-C7B70C45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952750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2F67"/>
          </a:solidFill>
          <a:ln xmlns:a="http://schemas.openxmlformats.org/drawingml/2006/main" w="0">
            <a:solidFill>
              <a:srgbClr val="D52F67"/>
            </a:solidFill>
            <a:prstDash val="solid"/>
          </a:ln>
        </p:spPr>
      </p:sp>
      <p:sp>
        <p:nvSpPr>
          <p:cNvPr id="18" name="a-branch-output">
            <a:extLst xmlns:a="http://schemas.openxmlformats.org/drawingml/2006/main">
              <a:ext uri="{FF2B5EF4-FFF2-40B4-BE49-F238E27FC236}">
                <a16:creationId xmlns:a16="http://schemas.microsoft.com/office/drawing/2014/main" id="{0F40D589-1E3B-41C6-B2E9-68F2941FD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D52F67"/>
            </a:solidFill>
            <a:prstDash val="solid"/>
          </a:ln>
        </p:spPr>
      </p:sp>
      <p:sp>
        <p:nvSpPr>
          <p:cNvPr id="19" name="a-branch-output-head">
            <a:extLst xmlns:a="http://schemas.openxmlformats.org/drawingml/2006/main">
              <a:ext uri="{FF2B5EF4-FFF2-40B4-BE49-F238E27FC236}">
                <a16:creationId xmlns:a16="http://schemas.microsoft.com/office/drawing/2014/main" id="{2F151BBF-2296-4D53-82E5-702D8FE6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23862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52F67"/>
          </a:solidFill>
          <a:ln xmlns:a="http://schemas.openxmlformats.org/drawingml/2006/main" w="0">
            <a:solidFill>
              <a:srgbClr val="D52F67"/>
            </a:solidFill>
            <a:prstDash val="solid"/>
          </a:ln>
        </p:spPr>
      </p:sp>
      <p:sp>
        <p:nvSpPr>
          <p:cNvPr id="20" name="a-output-browser">
            <a:extLst xmlns:a="http://schemas.openxmlformats.org/drawingml/2006/main">
              <a:ext uri="{FF2B5EF4-FFF2-40B4-BE49-F238E27FC236}">
                <a16:creationId xmlns:a16="http://schemas.microsoft.com/office/drawing/2014/main" id="{82EEEB23-436E-4D7B-9E14-50592F5A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86325"/>
            <a:ext cx="2219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47EBA"/>
            </a:solidFill>
            <a:prstDash val="solid"/>
          </a:ln>
        </p:spPr>
      </p:sp>
      <p:sp>
        <p:nvSpPr>
          <p:cNvPr id="21" name="a-output-browser-head">
            <a:extLst xmlns:a="http://schemas.openxmlformats.org/drawingml/2006/main">
              <a:ext uri="{FF2B5EF4-FFF2-40B4-BE49-F238E27FC236}">
                <a16:creationId xmlns:a16="http://schemas.microsoft.com/office/drawing/2014/main" id="{09B8EEED-1DE3-4C76-961B-C5C5E6AA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29175"/>
            <a:ext cx="952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7EBA"/>
          </a:solidFill>
          <a:ln xmlns:a="http://schemas.openxmlformats.org/drawingml/2006/main" w="0">
            <a:solidFill>
              <a:srgbClr val="147EBA"/>
            </a:solidFill>
            <a:prstDash val="solid"/>
          </a:ln>
        </p:spPr>
      </p:sp>
      <p:sp>
        <p:nvSpPr>
          <p:cNvPr id="22" name="child">
            <a:extLst xmlns:a="http://schemas.openxmlformats.org/drawingml/2006/main">
              <a:ext uri="{FF2B5EF4-FFF2-40B4-BE49-F238E27FC236}">
                <a16:creationId xmlns:a16="http://schemas.microsoft.com/office/drawing/2014/main" id="{C0C10E09-A63D-4D07-B8F5-CDECDEF8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1047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3335">
            <a:solidFill>
              <a:srgbClr val="F38B2A"/>
            </a:solidFill>
            <a:prstDash val="solid"/>
          </a:ln>
        </p:spPr>
      </p:sp>
      <p:sp>
        <p:nvSpPr>
          <p:cNvPr id="23" name="child-accent">
            <a:extLst xmlns:a="http://schemas.openxmlformats.org/drawingml/2006/main">
              <a:ext uri="{FF2B5EF4-FFF2-40B4-BE49-F238E27FC236}">
                <a16:creationId xmlns:a16="http://schemas.microsoft.com/office/drawing/2014/main" id="{16E48F88-197F-4AC2-B627-C4D8EACD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85925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8B2A"/>
          </a:solidFill>
          <a:ln xmlns:a="http://schemas.openxmlformats.org/drawingml/2006/main" w="13335">
            <a:solidFill>
              <a:srgbClr val="F38B2A"/>
            </a:solidFill>
            <a:prstDash val="solid"/>
          </a:ln>
        </p:spPr>
      </p:sp>
      <p:sp>
        <p:nvSpPr>
          <p:cNvPr id="24" name="child-label">
            <a:extLst xmlns:a="http://schemas.openxmlformats.org/drawingml/2006/main">
              <a:ext uri="{FF2B5EF4-FFF2-40B4-BE49-F238E27FC236}">
                <a16:creationId xmlns:a16="http://schemas.microsoft.com/office/drawing/2014/main" id="{172574AD-38EA-4EDE-90AB-F6ABE2FE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子ども</a:t>
            </a:r>
          </a:p>
        </p:txBody>
      </p:sp>
      <p:sp>
        <p:nvSpPr>
          <p:cNvPr id="25" name="child-detail">
            <a:extLst xmlns:a="http://schemas.openxmlformats.org/drawingml/2006/main">
              <a:ext uri="{FF2B5EF4-FFF2-40B4-BE49-F238E27FC236}">
                <a16:creationId xmlns:a16="http://schemas.microsoft.com/office/drawing/2014/main" id="{0D9A27E7-F80B-4A0C-8F53-3301F0450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85975"/>
            <a:ext cx="800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音声</a:t>
            </a:r>
          </a:p>
        </p:txBody>
      </p:sp>
      <p:sp>
        <p:nvSpPr>
          <p:cNvPr id="26" name="capture">
            <a:extLst xmlns:a="http://schemas.openxmlformats.org/drawingml/2006/main">
              <a:ext uri="{FF2B5EF4-FFF2-40B4-BE49-F238E27FC236}">
                <a16:creationId xmlns:a16="http://schemas.microsoft.com/office/drawing/2014/main" id="{467E19BC-8D42-4516-9E3C-FBE41626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85925"/>
            <a:ext cx="1333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3335">
            <a:solidFill>
              <a:srgbClr val="147EBA"/>
            </a:solidFill>
            <a:prstDash val="solid"/>
          </a:ln>
        </p:spPr>
      </p:sp>
      <p:sp>
        <p:nvSpPr>
          <p:cNvPr id="27" name="capture-accent">
            <a:extLst xmlns:a="http://schemas.openxmlformats.org/drawingml/2006/main">
              <a:ext uri="{FF2B5EF4-FFF2-40B4-BE49-F238E27FC236}">
                <a16:creationId xmlns:a16="http://schemas.microsoft.com/office/drawing/2014/main" id="{059A2120-DEF6-487E-BF15-12639419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85925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EBA"/>
          </a:solidFill>
          <a:ln xmlns:a="http://schemas.openxmlformats.org/drawingml/2006/main" w="13335">
            <a:solidFill>
              <a:srgbClr val="147EBA"/>
            </a:solidFill>
            <a:prstDash val="solid"/>
          </a:ln>
        </p:spPr>
      </p:sp>
      <p:sp>
        <p:nvSpPr>
          <p:cNvPr id="28" name="capture-label">
            <a:extLst xmlns:a="http://schemas.openxmlformats.org/drawingml/2006/main">
              <a:ext uri="{FF2B5EF4-FFF2-40B4-BE49-F238E27FC236}">
                <a16:creationId xmlns:a16="http://schemas.microsoft.com/office/drawing/2014/main" id="{C7CA6FFC-9AD9-44D4-9AD1-AAAFBF44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762125"/>
            <a:ext cx="1085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録音・STT</a:t>
            </a:r>
          </a:p>
        </p:txBody>
      </p:sp>
      <p:sp>
        <p:nvSpPr>
          <p:cNvPr id="29" name="capture-detail">
            <a:extLst xmlns:a="http://schemas.openxmlformats.org/drawingml/2006/main">
              <a:ext uri="{FF2B5EF4-FFF2-40B4-BE49-F238E27FC236}">
                <a16:creationId xmlns:a16="http://schemas.microsoft.com/office/drawing/2014/main" id="{74C70526-8658-4A3D-B47B-5DCFDF69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85975"/>
            <a:ext cx="1085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録音 → STT API</a:t>
            </a:r>
          </a:p>
        </p:txBody>
      </p:sp>
      <p:sp>
        <p:nvSpPr>
          <p:cNvPr id="30" name="webui">
            <a:extLst xmlns:a="http://schemas.openxmlformats.org/drawingml/2006/main">
              <a:ext uri="{FF2B5EF4-FFF2-40B4-BE49-F238E27FC236}">
                <a16:creationId xmlns:a16="http://schemas.microsoft.com/office/drawing/2014/main" id="{2BF1BA7A-1521-4A50-8129-8F46A2F5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85925"/>
            <a:ext cx="12192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3335">
            <a:solidFill>
              <a:srgbClr val="147EBA"/>
            </a:solidFill>
            <a:prstDash val="solid"/>
          </a:ln>
        </p:spPr>
      </p:sp>
      <p:sp>
        <p:nvSpPr>
          <p:cNvPr id="31" name="webui-accent">
            <a:extLst xmlns:a="http://schemas.openxmlformats.org/drawingml/2006/main">
              <a:ext uri="{FF2B5EF4-FFF2-40B4-BE49-F238E27FC236}">
                <a16:creationId xmlns:a16="http://schemas.microsoft.com/office/drawing/2014/main" id="{3E4F7D23-0B32-4145-9AD0-034DD55B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685925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EBA"/>
          </a:solidFill>
          <a:ln xmlns:a="http://schemas.openxmlformats.org/drawingml/2006/main" w="13335">
            <a:solidFill>
              <a:srgbClr val="147EBA"/>
            </a:solidFill>
            <a:prstDash val="solid"/>
          </a:ln>
        </p:spPr>
      </p:sp>
      <p:sp>
        <p:nvSpPr>
          <p:cNvPr id="32" name="webui-label">
            <a:extLst xmlns:a="http://schemas.openxmlformats.org/drawingml/2006/main">
              <a:ext uri="{FF2B5EF4-FFF2-40B4-BE49-F238E27FC236}">
                <a16:creationId xmlns:a16="http://schemas.microsoft.com/office/drawing/2014/main" id="{64E307B8-E863-4A9A-A220-A5F41D51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76212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Web UI</a:t>
            </a:r>
          </a:p>
        </p:txBody>
      </p:sp>
      <p:sp>
        <p:nvSpPr>
          <p:cNvPr id="33" name="webui-detail">
            <a:extLst xmlns:a="http://schemas.openxmlformats.org/drawingml/2006/main">
              <a:ext uri="{FF2B5EF4-FFF2-40B4-BE49-F238E27FC236}">
                <a16:creationId xmlns:a16="http://schemas.microsoft.com/office/drawing/2014/main" id="{E7ABE64F-4956-42BE-9B7D-02716EB84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85975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認識文確認</a:t>
            </a:r>
          </a:p>
        </p:txBody>
      </p:sp>
      <p:sp>
        <p:nvSpPr>
          <p:cNvPr id="34" name="nodeapi">
            <a:extLst xmlns:a="http://schemas.openxmlformats.org/drawingml/2006/main">
              <a:ext uri="{FF2B5EF4-FFF2-40B4-BE49-F238E27FC236}">
                <a16:creationId xmlns:a16="http://schemas.microsoft.com/office/drawing/2014/main" id="{A245B351-7C46-460E-A38F-54811E27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85925"/>
            <a:ext cx="1333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DECF2"/>
          </a:solidFill>
          <a:ln xmlns:a="http://schemas.openxmlformats.org/drawingml/2006/main" w="13335">
            <a:solidFill>
              <a:srgbClr val="D52F67"/>
            </a:solidFill>
            <a:prstDash val="solid"/>
          </a:ln>
        </p:spPr>
      </p:sp>
      <p:sp>
        <p:nvSpPr>
          <p:cNvPr id="35" name="nodeapi-accent">
            <a:extLst xmlns:a="http://schemas.openxmlformats.org/drawingml/2006/main">
              <a:ext uri="{FF2B5EF4-FFF2-40B4-BE49-F238E27FC236}">
                <a16:creationId xmlns:a16="http://schemas.microsoft.com/office/drawing/2014/main" id="{F7FF6207-EB43-489C-9D18-833DE7162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85925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F67"/>
          </a:solidFill>
          <a:ln xmlns:a="http://schemas.openxmlformats.org/drawingml/2006/main" w="13335">
            <a:solidFill>
              <a:srgbClr val="D52F67"/>
            </a:solidFill>
            <a:prstDash val="solid"/>
          </a:ln>
        </p:spPr>
      </p:sp>
      <p:sp>
        <p:nvSpPr>
          <p:cNvPr id="36" name="nodeapi-label">
            <a:extLst xmlns:a="http://schemas.openxmlformats.org/drawingml/2006/main">
              <a:ext uri="{FF2B5EF4-FFF2-40B4-BE49-F238E27FC236}">
                <a16:creationId xmlns:a16="http://schemas.microsoft.com/office/drawing/2014/main" id="{1CAE2BF9-8F49-43AE-B700-72190748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762125"/>
            <a:ext cx="1085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3A"/>
                </a:solidFill>
              </a:defRPr>
            </a:pPr>
            <a:r>
              <a:rPr sz="1500" b="1">
                <a:solidFill>
                  <a:srgbClr val="172B3A"/>
                </a:solidFill>
              </a:rPr>
              <a:t>Node API</a:t>
            </a:r>
          </a:p>
          <a:p xmlns:a="http://schemas.openxmlformats.org/drawingml/2006/main">
            <a:pPr algn="ctr">
              <a:defRPr sz="1500" b="1">
                <a:solidFill>
                  <a:srgbClr val="172B3A"/>
                </a:solidFill>
              </a:defRPr>
            </a:pPr>
            <a:r>
              <a:rPr sz="1500" b="1">
                <a:solidFill>
                  <a:srgbClr val="172B3A"/>
                </a:solidFill>
              </a:rPr>
              <a:t>STT・返答</a:t>
            </a:r>
          </a:p>
        </p:txBody>
      </p:sp>
      <p:sp>
        <p:nvSpPr>
          <p:cNvPr id="37" name="router">
            <a:extLst xmlns:a="http://schemas.openxmlformats.org/drawingml/2006/main">
              <a:ext uri="{FF2B5EF4-FFF2-40B4-BE49-F238E27FC236}">
                <a16:creationId xmlns:a16="http://schemas.microsoft.com/office/drawing/2014/main" id="{391B92E7-001D-481A-8C79-2062AC38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85925"/>
            <a:ext cx="2295525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DECF2"/>
          </a:solidFill>
          <a:ln xmlns:a="http://schemas.openxmlformats.org/drawingml/2006/main" w="13335">
            <a:solidFill>
              <a:srgbClr val="D52F67"/>
            </a:solidFill>
            <a:prstDash val="solid"/>
          </a:ln>
        </p:spPr>
      </p:sp>
      <p:sp>
        <p:nvSpPr>
          <p:cNvPr id="38" name="router-accent">
            <a:extLst xmlns:a="http://schemas.openxmlformats.org/drawingml/2006/main">
              <a:ext uri="{FF2B5EF4-FFF2-40B4-BE49-F238E27FC236}">
                <a16:creationId xmlns:a16="http://schemas.microsoft.com/office/drawing/2014/main" id="{A0DDE536-654D-48EC-B7DC-4015618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85925"/>
            <a:ext cx="95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F67"/>
          </a:solidFill>
          <a:ln xmlns:a="http://schemas.openxmlformats.org/drawingml/2006/main" w="13335">
            <a:solidFill>
              <a:srgbClr val="D52F67"/>
            </a:solidFill>
            <a:prstDash val="solid"/>
          </a:ln>
        </p:spPr>
      </p:sp>
      <p:sp>
        <p:nvSpPr>
          <p:cNvPr id="39" name="router-label">
            <a:extLst xmlns:a="http://schemas.openxmlformats.org/drawingml/2006/main">
              <a:ext uri="{FF2B5EF4-FFF2-40B4-BE49-F238E27FC236}">
                <a16:creationId xmlns:a16="http://schemas.microsoft.com/office/drawing/2014/main" id="{0947A37C-5E73-4F72-88B5-C556968FE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762125"/>
            <a:ext cx="2047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OrcaRouter</a:t>
            </a:r>
          </a:p>
        </p:txBody>
      </p:sp>
      <p:sp>
        <p:nvSpPr>
          <p:cNvPr id="40" name="router-detail">
            <a:extLst xmlns:a="http://schemas.openxmlformats.org/drawingml/2006/main">
              <a:ext uri="{FF2B5EF4-FFF2-40B4-BE49-F238E27FC236}">
                <a16:creationId xmlns:a16="http://schemas.microsoft.com/office/drawing/2014/main" id="{7BE22B8E-019F-4845-886A-C4A41948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85975"/>
            <a:ext cx="204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構造化して監督</a:t>
            </a:r>
          </a:p>
        </p:txBody>
      </p:sp>
      <p:sp>
        <p:nvSpPr>
          <p:cNvPr id="41" name="profile-store">
            <a:extLst xmlns:a="http://schemas.openxmlformats.org/drawingml/2006/main">
              <a:ext uri="{FF2B5EF4-FFF2-40B4-BE49-F238E27FC236}">
                <a16:creationId xmlns:a16="http://schemas.microsoft.com/office/drawing/2014/main" id="{143B537A-A689-4B9D-A0ED-B8812BCD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38300"/>
            <a:ext cx="242887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3335">
            <a:solidFill>
              <a:srgbClr val="35A853"/>
            </a:solidFill>
            <a:prstDash val="solid"/>
          </a:ln>
        </p:spPr>
      </p:sp>
      <p:sp>
        <p:nvSpPr>
          <p:cNvPr id="42" name="profile-store-accent">
            <a:extLst xmlns:a="http://schemas.openxmlformats.org/drawingml/2006/main">
              <a:ext uri="{FF2B5EF4-FFF2-40B4-BE49-F238E27FC236}">
                <a16:creationId xmlns:a16="http://schemas.microsoft.com/office/drawing/2014/main" id="{ACAA947A-F26F-4718-B231-D15760D1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38300"/>
            <a:ext cx="9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853"/>
          </a:solidFill>
          <a:ln xmlns:a="http://schemas.openxmlformats.org/drawingml/2006/main" w="13335">
            <a:solidFill>
              <a:srgbClr val="35A853"/>
            </a:solidFill>
            <a:prstDash val="solid"/>
          </a:ln>
        </p:spPr>
      </p:sp>
      <p:sp>
        <p:nvSpPr>
          <p:cNvPr id="43" name="profile-store-label">
            <a:extLst xmlns:a="http://schemas.openxmlformats.org/drawingml/2006/main">
              <a:ext uri="{FF2B5EF4-FFF2-40B4-BE49-F238E27FC236}">
                <a16:creationId xmlns:a16="http://schemas.microsoft.com/office/drawing/2014/main" id="{10BE2C90-0C2B-4C1D-A0AD-B8BAB7B9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714500"/>
            <a:ext cx="2181225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保護者プロフィール</a:t>
            </a:r>
          </a:p>
        </p:txBody>
      </p:sp>
      <p:sp>
        <p:nvSpPr>
          <p:cNvPr id="44" name="profile-store-detail">
            <a:extLst xmlns:a="http://schemas.openxmlformats.org/drawingml/2006/main">
              <a:ext uri="{FF2B5EF4-FFF2-40B4-BE49-F238E27FC236}">
                <a16:creationId xmlns:a16="http://schemas.microsoft.com/office/drawing/2014/main" id="{2529905C-34DF-4D8D-9A3D-08FE6DBE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958340"/>
            <a:ext cx="2181225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写真・声・MP4を暗号化保存</a:t>
            </a:r>
          </a:p>
        </p:txBody>
      </p:sp>
      <p:sp>
        <p:nvSpPr>
          <p:cNvPr id="45" name="history-store">
            <a:extLst xmlns:a="http://schemas.openxmlformats.org/drawingml/2006/main">
              <a:ext uri="{FF2B5EF4-FFF2-40B4-BE49-F238E27FC236}">
                <a16:creationId xmlns:a16="http://schemas.microsoft.com/office/drawing/2014/main" id="{65F771F4-6049-4107-8B2F-91BC7E09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86000"/>
            <a:ext cx="2428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FEEFF"/>
          </a:solidFill>
          <a:ln xmlns:a="http://schemas.openxmlformats.org/drawingml/2006/main" w="13335">
            <a:solidFill>
              <a:srgbClr val="5A54C9"/>
            </a:solidFill>
            <a:prstDash val="solid"/>
          </a:ln>
        </p:spPr>
      </p:sp>
      <p:sp>
        <p:nvSpPr>
          <p:cNvPr id="46" name="history-store-accent">
            <a:extLst xmlns:a="http://schemas.openxmlformats.org/drawingml/2006/main">
              <a:ext uri="{FF2B5EF4-FFF2-40B4-BE49-F238E27FC236}">
                <a16:creationId xmlns:a16="http://schemas.microsoft.com/office/drawing/2014/main" id="{F71AD80B-F9F5-451D-BA0F-1206E2B6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86000"/>
            <a:ext cx="9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4C9"/>
          </a:solidFill>
          <a:ln xmlns:a="http://schemas.openxmlformats.org/drawingml/2006/main" w="13335">
            <a:solidFill>
              <a:srgbClr val="5A54C9"/>
            </a:solidFill>
            <a:prstDash val="solid"/>
          </a:ln>
        </p:spPr>
      </p:sp>
      <p:sp>
        <p:nvSpPr>
          <p:cNvPr id="47" name="history-store-label">
            <a:extLst xmlns:a="http://schemas.openxmlformats.org/drawingml/2006/main">
              <a:ext uri="{FF2B5EF4-FFF2-40B4-BE49-F238E27FC236}">
                <a16:creationId xmlns:a16="http://schemas.microsoft.com/office/drawing/2014/main" id="{3DCBC29F-35B8-4BD4-A146-5E8B3819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333625"/>
            <a:ext cx="21812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会話ID / 履歴</a:t>
            </a:r>
          </a:p>
        </p:txBody>
      </p:sp>
      <p:sp>
        <p:nvSpPr>
          <p:cNvPr id="48" name="history-store-detail">
            <a:extLst xmlns:a="http://schemas.openxmlformats.org/drawingml/2006/main">
              <a:ext uri="{FF2B5EF4-FFF2-40B4-BE49-F238E27FC236}">
                <a16:creationId xmlns:a16="http://schemas.microsoft.com/office/drawing/2014/main" id="{E786970E-93D2-4285-AAFB-26B15905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2562225"/>
            <a:ext cx="21812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conversationId /</a:t>
            </a:r>
          </a:p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直近6往復（30分）</a:t>
            </a:r>
          </a:p>
        </p:txBody>
      </p:sp>
      <p:sp>
        <p:nvSpPr>
          <p:cNvPr id="49" name="decision-region">
            <a:extLst xmlns:a="http://schemas.openxmlformats.org/drawingml/2006/main">
              <a:ext uri="{FF2B5EF4-FFF2-40B4-BE49-F238E27FC236}">
                <a16:creationId xmlns:a16="http://schemas.microsoft.com/office/drawing/2014/main" id="{DF7727EC-DBD3-4422-9755-5E6A292C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048000"/>
            <a:ext cx="5734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D52F67"/>
            </a:solidFill>
            <a:prstDash val="dash"/>
          </a:ln>
        </p:spPr>
      </p:sp>
      <p:sp>
        <p:nvSpPr>
          <p:cNvPr id="50" name="decision-region-label">
            <a:extLst xmlns:a="http://schemas.openxmlformats.org/drawingml/2006/main">
              <a:ext uri="{FF2B5EF4-FFF2-40B4-BE49-F238E27FC236}">
                <a16:creationId xmlns:a16="http://schemas.microsoft.com/office/drawing/2014/main" id="{7832FAFB-8457-42A9-A748-B1D1ECAC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2420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52F67"/>
                </a:solidFill>
              </a:defRPr>
            </a:pPr>
            <a:r>
              <a:rPr sz="1350" b="1">
                <a:solidFill>
                  <a:srgbClr val="D52F67"/>
                </a:solidFill>
              </a:rPr>
              <a:t>3つの判定</a:t>
            </a:r>
          </a:p>
        </p:txBody>
      </p:sp>
      <p:sp>
        <p:nvSpPr>
          <p:cNvPr id="51" name="normal">
            <a:extLst xmlns:a="http://schemas.openxmlformats.org/drawingml/2006/main">
              <a:ext uri="{FF2B5EF4-FFF2-40B4-BE49-F238E27FC236}">
                <a16:creationId xmlns:a16="http://schemas.microsoft.com/office/drawing/2014/main" id="{6219260E-1379-408A-BEE4-F88739097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52800"/>
            <a:ext cx="1619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3335">
            <a:solidFill>
              <a:srgbClr val="35A853"/>
            </a:solidFill>
            <a:prstDash val="solid"/>
          </a:ln>
        </p:spPr>
      </p:sp>
      <p:sp>
        <p:nvSpPr>
          <p:cNvPr id="52" name="normal-accent">
            <a:extLst xmlns:a="http://schemas.openxmlformats.org/drawingml/2006/main">
              <a:ext uri="{FF2B5EF4-FFF2-40B4-BE49-F238E27FC236}">
                <a16:creationId xmlns:a16="http://schemas.microsoft.com/office/drawing/2014/main" id="{50B9FF7E-7CA0-42E3-B679-BA38ACCE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528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853"/>
          </a:solidFill>
          <a:ln xmlns:a="http://schemas.openxmlformats.org/drawingml/2006/main" w="13335">
            <a:solidFill>
              <a:srgbClr val="35A853"/>
            </a:solidFill>
            <a:prstDash val="solid"/>
          </a:ln>
        </p:spPr>
      </p:sp>
      <p:sp>
        <p:nvSpPr>
          <p:cNvPr id="53" name="normal-label">
            <a:extLst xmlns:a="http://schemas.openxmlformats.org/drawingml/2006/main">
              <a:ext uri="{FF2B5EF4-FFF2-40B4-BE49-F238E27FC236}">
                <a16:creationId xmlns:a16="http://schemas.microsoft.com/office/drawing/2014/main" id="{FEBF3A96-7A34-47DE-9DF1-67058006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90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3A"/>
                </a:solidFill>
              </a:defRPr>
            </a:pPr>
            <a:r>
              <a:rPr sz="1500" b="1">
                <a:solidFill>
                  <a:srgbClr val="172B3A"/>
                </a:solidFill>
              </a:rPr>
              <a:t>通常 / 短い返信</a:t>
            </a:r>
          </a:p>
        </p:txBody>
      </p:sp>
      <p:sp>
        <p:nvSpPr>
          <p:cNvPr id="54" name="care">
            <a:extLst xmlns:a="http://schemas.openxmlformats.org/drawingml/2006/main">
              <a:ext uri="{FF2B5EF4-FFF2-40B4-BE49-F238E27FC236}">
                <a16:creationId xmlns:a16="http://schemas.microsoft.com/office/drawing/2014/main" id="{D2E8BE0F-C811-489C-87F8-FECEA03EE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52800"/>
            <a:ext cx="17907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3335">
            <a:solidFill>
              <a:srgbClr val="F38B2A"/>
            </a:solidFill>
            <a:prstDash val="solid"/>
          </a:ln>
        </p:spPr>
      </p:sp>
      <p:sp>
        <p:nvSpPr>
          <p:cNvPr id="55" name="care-accent">
            <a:extLst xmlns:a="http://schemas.openxmlformats.org/drawingml/2006/main">
              <a:ext uri="{FF2B5EF4-FFF2-40B4-BE49-F238E27FC236}">
                <a16:creationId xmlns:a16="http://schemas.microsoft.com/office/drawing/2014/main" id="{3D13321F-A929-4FA4-ADAD-255701E5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528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8B2A"/>
          </a:solidFill>
          <a:ln xmlns:a="http://schemas.openxmlformats.org/drawingml/2006/main" w="13335">
            <a:solidFill>
              <a:srgbClr val="F38B2A"/>
            </a:solidFill>
            <a:prstDash val="solid"/>
          </a:ln>
        </p:spPr>
      </p:sp>
      <p:sp>
        <p:nvSpPr>
          <p:cNvPr id="56" name="care-label">
            <a:extLst xmlns:a="http://schemas.openxmlformats.org/drawingml/2006/main">
              <a:ext uri="{FF2B5EF4-FFF2-40B4-BE49-F238E27FC236}">
                <a16:creationId xmlns:a16="http://schemas.microsoft.com/office/drawing/2014/main" id="{14AC8CED-760D-43B9-88C4-B59751AE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1543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3A"/>
                </a:solidFill>
              </a:defRPr>
            </a:pPr>
            <a:r>
              <a:rPr sz="1500" b="1">
                <a:solidFill>
                  <a:srgbClr val="172B3A"/>
                </a:solidFill>
              </a:rPr>
              <a:t>感情ケア / comfort等</a:t>
            </a:r>
          </a:p>
        </p:txBody>
      </p:sp>
      <p:sp>
        <p:nvSpPr>
          <p:cNvPr id="57" name="safety">
            <a:extLst xmlns:a="http://schemas.openxmlformats.org/drawingml/2006/main">
              <a:ext uri="{FF2B5EF4-FFF2-40B4-BE49-F238E27FC236}">
                <a16:creationId xmlns:a16="http://schemas.microsoft.com/office/drawing/2014/main" id="{F285E797-0D0A-4F40-B47B-FF941810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52800"/>
            <a:ext cx="1695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DECF2"/>
          </a:solidFill>
          <a:ln xmlns:a="http://schemas.openxmlformats.org/drawingml/2006/main" w="13335">
            <a:solidFill>
              <a:srgbClr val="C7364F"/>
            </a:solidFill>
            <a:prstDash val="solid"/>
          </a:ln>
        </p:spPr>
      </p:sp>
      <p:sp>
        <p:nvSpPr>
          <p:cNvPr id="58" name="safety-accent">
            <a:extLst xmlns:a="http://schemas.openxmlformats.org/drawingml/2006/main">
              <a:ext uri="{FF2B5EF4-FFF2-40B4-BE49-F238E27FC236}">
                <a16:creationId xmlns:a16="http://schemas.microsoft.com/office/drawing/2014/main" id="{29845DCF-49F2-4D44-A918-016117E5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528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64F"/>
          </a:solidFill>
          <a:ln xmlns:a="http://schemas.openxmlformats.org/drawingml/2006/main" w="13335">
            <a:solidFill>
              <a:srgbClr val="C7364F"/>
            </a:solidFill>
            <a:prstDash val="solid"/>
          </a:ln>
        </p:spPr>
      </p:sp>
      <p:sp>
        <p:nvSpPr>
          <p:cNvPr id="59" name="safety-label">
            <a:extLst xmlns:a="http://schemas.openxmlformats.org/drawingml/2006/main">
              <a:ext uri="{FF2B5EF4-FFF2-40B4-BE49-F238E27FC236}">
                <a16:creationId xmlns:a16="http://schemas.microsoft.com/office/drawing/2014/main" id="{D5746BE8-CC78-4AE5-8F17-BCB2ACE68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29000"/>
            <a:ext cx="144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B3A"/>
                </a:solidFill>
              </a:defRPr>
            </a:pPr>
            <a:r>
              <a:rPr sz="1500" b="1">
                <a:solidFill>
                  <a:srgbClr val="172B3A"/>
                </a:solidFill>
              </a:rPr>
              <a:t>安全 / 大人へ</a:t>
            </a:r>
          </a:p>
        </p:txBody>
      </p:sp>
      <p:sp>
        <p:nvSpPr>
          <p:cNvPr id="60" name="bundle-region">
            <a:extLst xmlns:a="http://schemas.openxmlformats.org/drawingml/2006/main">
              <a:ext uri="{FF2B5EF4-FFF2-40B4-BE49-F238E27FC236}">
                <a16:creationId xmlns:a16="http://schemas.microsoft.com/office/drawing/2014/main" id="{ECB04EF9-56E3-4AD4-AF2A-91311D80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333875"/>
            <a:ext cx="59150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7EBA"/>
            </a:solidFill>
            <a:prstDash val="dash"/>
          </a:ln>
        </p:spPr>
      </p:sp>
      <p:sp>
        <p:nvSpPr>
          <p:cNvPr id="61" name="bundle-region-label">
            <a:extLst xmlns:a="http://schemas.openxmlformats.org/drawingml/2006/main">
              <a:ext uri="{FF2B5EF4-FFF2-40B4-BE49-F238E27FC236}">
                <a16:creationId xmlns:a16="http://schemas.microsoft.com/office/drawing/2014/main" id="{DF2E898B-D17E-4037-8986-88DCCC689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410075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EBA"/>
                </a:solidFill>
              </a:defRPr>
            </a:pPr>
            <a:r>
              <a:rPr sz="1350" b="1">
                <a:solidFill>
                  <a:srgbClr val="147EBA"/>
                </a:solidFill>
              </a:rPr>
              <a:t>通常時の返答バンドル</a:t>
            </a:r>
          </a:p>
        </p:txBody>
      </p:sp>
      <p:sp>
        <p:nvSpPr>
          <p:cNvPr id="62" name="replytext">
            <a:extLst xmlns:a="http://schemas.openxmlformats.org/drawingml/2006/main">
              <a:ext uri="{FF2B5EF4-FFF2-40B4-BE49-F238E27FC236}">
                <a16:creationId xmlns:a16="http://schemas.microsoft.com/office/drawing/2014/main" id="{1DA07E6D-0F51-4274-B8A3-855E6D84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10100"/>
            <a:ext cx="172402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3335">
            <a:solidFill>
              <a:srgbClr val="147EBA"/>
            </a:solidFill>
            <a:prstDash val="solid"/>
          </a:ln>
        </p:spPr>
      </p:sp>
      <p:sp>
        <p:nvSpPr>
          <p:cNvPr id="63" name="replytext-accent">
            <a:extLst xmlns:a="http://schemas.openxmlformats.org/drawingml/2006/main">
              <a:ext uri="{FF2B5EF4-FFF2-40B4-BE49-F238E27FC236}">
                <a16:creationId xmlns:a16="http://schemas.microsoft.com/office/drawing/2014/main" id="{ED313462-971E-4C37-9235-5AA0506F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61010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EBA"/>
          </a:solidFill>
          <a:ln xmlns:a="http://schemas.openxmlformats.org/drawingml/2006/main" w="13335">
            <a:solidFill>
              <a:srgbClr val="147EBA"/>
            </a:solidFill>
            <a:prstDash val="solid"/>
          </a:ln>
        </p:spPr>
      </p:sp>
      <p:sp>
        <p:nvSpPr>
          <p:cNvPr id="64" name="replytext-label">
            <a:extLst xmlns:a="http://schemas.openxmlformats.org/drawingml/2006/main">
              <a:ext uri="{FF2B5EF4-FFF2-40B4-BE49-F238E27FC236}">
                <a16:creationId xmlns:a16="http://schemas.microsoft.com/office/drawing/2014/main" id="{DE4EE4FF-4681-4D98-A5A0-458F7596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1476375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動的テキスト</a:t>
            </a:r>
          </a:p>
        </p:txBody>
      </p:sp>
      <p:sp>
        <p:nvSpPr>
          <p:cNvPr id="65" name="replytext-detail">
            <a:extLst xmlns:a="http://schemas.openxmlformats.org/drawingml/2006/main">
              <a:ext uri="{FF2B5EF4-FFF2-40B4-BE49-F238E27FC236}">
                <a16:creationId xmlns:a16="http://schemas.microsoft.com/office/drawing/2014/main" id="{ADE45D59-E038-4FF5-81FC-F58752105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45380"/>
            <a:ext cx="1476375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subtitle / replyText</a:t>
            </a:r>
          </a:p>
        </p:txBody>
      </p:sp>
      <p:sp>
        <p:nvSpPr>
          <p:cNvPr id="66" name="photo">
            <a:extLst xmlns:a="http://schemas.openxmlformats.org/drawingml/2006/main">
              <a:ext uri="{FF2B5EF4-FFF2-40B4-BE49-F238E27FC236}">
                <a16:creationId xmlns:a16="http://schemas.microsoft.com/office/drawing/2014/main" id="{7B724F57-A554-4B4E-9337-044D0EE4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610100"/>
            <a:ext cx="1809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3335">
            <a:solidFill>
              <a:srgbClr val="35A853"/>
            </a:solidFill>
            <a:prstDash val="solid"/>
          </a:ln>
        </p:spPr>
      </p:sp>
      <p:sp>
        <p:nvSpPr>
          <p:cNvPr id="67" name="photo-accent">
            <a:extLst xmlns:a="http://schemas.openxmlformats.org/drawingml/2006/main">
              <a:ext uri="{FF2B5EF4-FFF2-40B4-BE49-F238E27FC236}">
                <a16:creationId xmlns:a16="http://schemas.microsoft.com/office/drawing/2014/main" id="{6BFFEB24-3202-4FF2-9356-88AB0561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461010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853"/>
          </a:solidFill>
          <a:ln xmlns:a="http://schemas.openxmlformats.org/drawingml/2006/main" w="13335">
            <a:solidFill>
              <a:srgbClr val="35A853"/>
            </a:solidFill>
            <a:prstDash val="solid"/>
          </a:ln>
        </p:spPr>
      </p:sp>
      <p:sp>
        <p:nvSpPr>
          <p:cNvPr id="68" name="photo-label">
            <a:extLst xmlns:a="http://schemas.openxmlformats.org/drawingml/2006/main">
              <a:ext uri="{FF2B5EF4-FFF2-40B4-BE49-F238E27FC236}">
                <a16:creationId xmlns:a16="http://schemas.microsoft.com/office/drawing/2014/main" id="{E208885E-774C-4BB3-B865-667404D8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686300"/>
            <a:ext cx="15621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生成親動画</a:t>
            </a:r>
          </a:p>
        </p:txBody>
      </p:sp>
      <p:sp>
        <p:nvSpPr>
          <p:cNvPr id="69" name="photo-detail">
            <a:extLst xmlns:a="http://schemas.openxmlformats.org/drawingml/2006/main">
              <a:ext uri="{FF2B5EF4-FFF2-40B4-BE49-F238E27FC236}">
                <a16:creationId xmlns:a16="http://schemas.microsoft.com/office/drawing/2014/main" id="{8E36A8F6-58E4-4BF2-A094-47C0DDF3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45380"/>
            <a:ext cx="15621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Kling MP4をループ</a:t>
            </a:r>
          </a:p>
        </p:txBody>
      </p:sp>
      <p:sp>
        <p:nvSpPr>
          <p:cNvPr id="70" name="tts">
            <a:extLst xmlns:a="http://schemas.openxmlformats.org/drawingml/2006/main">
              <a:ext uri="{FF2B5EF4-FFF2-40B4-BE49-F238E27FC236}">
                <a16:creationId xmlns:a16="http://schemas.microsoft.com/office/drawing/2014/main" id="{253C021B-ED86-4313-955B-DBE74B36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610100"/>
            <a:ext cx="17716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3335">
            <a:solidFill>
              <a:srgbClr val="F38B2A"/>
            </a:solidFill>
            <a:prstDash val="solid"/>
          </a:ln>
        </p:spPr>
      </p:sp>
      <p:sp>
        <p:nvSpPr>
          <p:cNvPr id="71" name="tts-accent">
            <a:extLst xmlns:a="http://schemas.openxmlformats.org/drawingml/2006/main">
              <a:ext uri="{FF2B5EF4-FFF2-40B4-BE49-F238E27FC236}">
                <a16:creationId xmlns:a16="http://schemas.microsoft.com/office/drawing/2014/main" id="{E03F60FB-AD97-479D-A3CD-EC7DFFA1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610100"/>
            <a:ext cx="9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8B2A"/>
          </a:solidFill>
          <a:ln xmlns:a="http://schemas.openxmlformats.org/drawingml/2006/main" w="13335">
            <a:solidFill>
              <a:srgbClr val="F38B2A"/>
            </a:solidFill>
            <a:prstDash val="solid"/>
          </a:ln>
        </p:spPr>
      </p:sp>
      <p:sp>
        <p:nvSpPr>
          <p:cNvPr id="72" name="tts-label">
            <a:extLst xmlns:a="http://schemas.openxmlformats.org/drawingml/2006/main">
              <a:ext uri="{FF2B5EF4-FFF2-40B4-BE49-F238E27FC236}">
                <a16:creationId xmlns:a16="http://schemas.microsoft.com/office/drawing/2014/main" id="{46FE6245-B0D8-47D5-856A-107508B3E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6767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ブラウザTTS</a:t>
            </a:r>
          </a:p>
        </p:txBody>
      </p:sp>
      <p:sp>
        <p:nvSpPr>
          <p:cNvPr id="73" name="tts-detail">
            <a:extLst xmlns:a="http://schemas.openxmlformats.org/drawingml/2006/main">
              <a:ext uri="{FF2B5EF4-FFF2-40B4-BE49-F238E27FC236}">
                <a16:creationId xmlns:a16="http://schemas.microsoft.com/office/drawing/2014/main" id="{5CEE0C9A-8BD1-4C69-A490-21EF9A4B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924425"/>
            <a:ext cx="1524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返答ごとに生成</a:t>
            </a:r>
          </a:p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その場で読み上げ</a:t>
            </a:r>
          </a:p>
        </p:txBody>
      </p:sp>
      <p:sp>
        <p:nvSpPr>
          <p:cNvPr id="74" name="present">
            <a:extLst xmlns:a="http://schemas.openxmlformats.org/drawingml/2006/main">
              <a:ext uri="{FF2B5EF4-FFF2-40B4-BE49-F238E27FC236}">
                <a16:creationId xmlns:a16="http://schemas.microsoft.com/office/drawing/2014/main" id="{5ABDF3E2-8C83-444C-BAD3-BBCBB72C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76750"/>
            <a:ext cx="19145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3335">
            <a:solidFill>
              <a:srgbClr val="147EBA"/>
            </a:solidFill>
            <a:prstDash val="solid"/>
          </a:ln>
        </p:spPr>
      </p:sp>
      <p:sp>
        <p:nvSpPr>
          <p:cNvPr id="75" name="present-accent">
            <a:extLst xmlns:a="http://schemas.openxmlformats.org/drawingml/2006/main">
              <a:ext uri="{FF2B5EF4-FFF2-40B4-BE49-F238E27FC236}">
                <a16:creationId xmlns:a16="http://schemas.microsoft.com/office/drawing/2014/main" id="{9FCCAFEF-3359-4F0F-BAF0-DD66F2BFF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476750"/>
            <a:ext cx="95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EBA"/>
          </a:solidFill>
          <a:ln xmlns:a="http://schemas.openxmlformats.org/drawingml/2006/main" w="13335">
            <a:solidFill>
              <a:srgbClr val="147EBA"/>
            </a:solidFill>
            <a:prstDash val="solid"/>
          </a:ln>
        </p:spPr>
      </p:sp>
      <p:sp>
        <p:nvSpPr>
          <p:cNvPr id="76" name="present-label">
            <a:extLst xmlns:a="http://schemas.openxmlformats.org/drawingml/2006/main">
              <a:ext uri="{FF2B5EF4-FFF2-40B4-BE49-F238E27FC236}">
                <a16:creationId xmlns:a16="http://schemas.microsoft.com/office/drawing/2014/main" id="{21CD6AEF-D61D-4B63-AE8D-7C8D2F9F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55295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3つを同時提示</a:t>
            </a:r>
          </a:p>
        </p:txBody>
      </p:sp>
      <p:sp>
        <p:nvSpPr>
          <p:cNvPr id="77" name="present-detail">
            <a:extLst xmlns:a="http://schemas.openxmlformats.org/drawingml/2006/main">
              <a:ext uri="{FF2B5EF4-FFF2-40B4-BE49-F238E27FC236}">
                <a16:creationId xmlns:a16="http://schemas.microsoft.com/office/drawing/2014/main" id="{59FA07EE-7947-46F9-AD4C-46F7ED49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87680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字幕 ＋ 動画 ＋ 音声</a:t>
            </a:r>
          </a:p>
        </p:txBody>
      </p:sp>
      <p:sp>
        <p:nvSpPr>
          <p:cNvPr id="78" name="simultaneous-note">
            <a:extLst xmlns:a="http://schemas.openxmlformats.org/drawingml/2006/main">
              <a:ext uri="{FF2B5EF4-FFF2-40B4-BE49-F238E27FC236}">
                <a16:creationId xmlns:a16="http://schemas.microsoft.com/office/drawing/2014/main" id="{1D88A686-77E1-4F4F-937F-6CB0C753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67350"/>
            <a:ext cx="3857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7364F"/>
                </a:solidFill>
              </a:defRPr>
            </a:pPr>
            <a:r>
              <a:rPr sz="1200" b="1">
                <a:solidFill>
                  <a:srgbClr val="C7364F"/>
                </a:solidFill>
              </a:rPr>
              <a:t>安全判定では親らしい写真・音声を出さず、大人への案内に切り替え</a:t>
            </a:r>
          </a:p>
        </p:txBody>
      </p:sp>
      <p:sp>
        <p:nvSpPr>
          <p:cNvPr id="79" name="footer1">
            <a:extLst xmlns:a="http://schemas.openxmlformats.org/drawingml/2006/main">
              <a:ext uri="{FF2B5EF4-FFF2-40B4-BE49-F238E27FC236}">
                <a16:creationId xmlns:a16="http://schemas.microsoft.com/office/drawing/2014/main" id="{47E5BE6B-716A-489F-BCA8-44EC6FE8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293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80"/>
                </a:solidFill>
              </a:defRPr>
            </a:pPr>
            <a:r>
              <a:rPr sz="1125" b="0">
                <a:solidFill>
                  <a:srgbClr val="5D7180"/>
                </a:solidFill>
              </a:rPr>
              <a:t>根拠: README.md / public/app.js / server.mjs / lib/providers/*.mjs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3696988-C7FB-4A56-BD6A-1D6C9EE8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628650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147EBA"/>
            </a:solidFill>
            <a:prstDash val="solid"/>
          </a:ln>
        </p:spPr>
      </p:sp>
      <p:sp>
        <p:nvSpPr>
          <p:cNvPr id="81" name="legend-実装済み">
            <a:extLst xmlns:a="http://schemas.openxmlformats.org/drawingml/2006/main">
              <a:ext uri="{FF2B5EF4-FFF2-40B4-BE49-F238E27FC236}">
                <a16:creationId xmlns:a16="http://schemas.microsoft.com/office/drawing/2014/main" id="{D147AE76-779B-451A-9DC3-9A7B2D52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191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実装済み</a:t>
            </a:r>
          </a:p>
        </p:txBody>
      </p:sp>
    </p:spTree>
    <p:extLst>
      <p:ext uri="{BB962C8B-B14F-4D97-AF65-F5344CB8AC3E}">
        <p14:creationId xmlns:p14="http://schemas.microsoft.com/office/powerpoint/2010/main" val="12392738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97D2F679-70CE-4EC0-8D11-3E7E3C32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9620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B3A"/>
                </a:solidFill>
              </a:defRPr>
            </a:pPr>
            <a:r>
              <a:rPr sz="2850" b="1">
                <a:solidFill>
                  <a:srgbClr val="172B3A"/>
                </a:solidFill>
              </a:rPr>
              <a:t>登録時に実動画を作り、会話では待たずに再利用</a:t>
            </a:r>
          </a:p>
        </p:txBody>
      </p:sp>
      <p:sp>
        <p:nvSpPr>
          <p:cNvPr id="2" name="slide-2-subtitle">
            <a:extLst xmlns:a="http://schemas.openxmlformats.org/drawingml/2006/main">
              <a:ext uri="{FF2B5EF4-FFF2-40B4-BE49-F238E27FC236}">
                <a16:creationId xmlns:a16="http://schemas.microsoft.com/office/drawing/2014/main" id="{2740EE51-065F-42D5-BE11-41015CB9E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7180"/>
                </a:solidFill>
              </a:defRPr>
            </a:pPr>
            <a:r>
              <a:rPr sz="1350" b="0">
                <a:solidFill>
                  <a:srgbClr val="5D7180"/>
                </a:solidFill>
              </a:rPr>
              <a:t>OrcaRouterからKlingへ非同期生成。完成MP4を保存し、返答時にすぐ再生</a:t>
            </a:r>
          </a:p>
        </p:txBody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BBDA849A-D722-4260-B08B-87D654440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30480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7EBA"/>
                </a:solidFill>
              </a:defRPr>
            </a:pPr>
            <a:r>
              <a:rPr sz="1500" b="1">
                <a:solidFill>
                  <a:srgbClr val="147EBA"/>
                </a:solidFill>
              </a:rPr>
              <a:t>02</a:t>
            </a:r>
          </a:p>
        </p:txBody>
      </p:sp>
      <p:sp>
        <p:nvSpPr>
          <p:cNvPr id="4" name="implemented-region">
            <a:extLst xmlns:a="http://schemas.openxmlformats.org/drawingml/2006/main">
              <a:ext uri="{FF2B5EF4-FFF2-40B4-BE49-F238E27FC236}">
                <a16:creationId xmlns:a16="http://schemas.microsoft.com/office/drawing/2014/main" id="{C533B9D0-AFAA-4C52-A025-A65A61DB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00150"/>
            <a:ext cx="37147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7EBA"/>
            </a:solidFill>
            <a:prstDash val="dash"/>
          </a:ln>
        </p:spPr>
      </p:sp>
      <p:sp>
        <p:nvSpPr>
          <p:cNvPr id="5" name="implemented-region-label">
            <a:extLst xmlns:a="http://schemas.openxmlformats.org/drawingml/2006/main">
              <a:ext uri="{FF2B5EF4-FFF2-40B4-BE49-F238E27FC236}">
                <a16:creationId xmlns:a16="http://schemas.microsoft.com/office/drawing/2014/main" id="{5873BBC7-216F-4CD3-8B50-50F377CB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EBA"/>
                </a:solidFill>
              </a:defRPr>
            </a:pPr>
            <a:r>
              <a:rPr sz="1350" b="1">
                <a:solidFill>
                  <a:srgbClr val="147EBA"/>
                </a:solidFill>
              </a:rPr>
              <a:t>会話経路（実装済み）</a:t>
            </a:r>
          </a:p>
        </p:txBody>
      </p:sp>
      <p:sp>
        <p:nvSpPr>
          <p:cNvPr id="6" name="future-region">
            <a:extLst xmlns:a="http://schemas.openxmlformats.org/drawingml/2006/main">
              <a:ext uri="{FF2B5EF4-FFF2-40B4-BE49-F238E27FC236}">
                <a16:creationId xmlns:a16="http://schemas.microsoft.com/office/drawing/2014/main" id="{26858DCC-85CA-4BEA-8814-92A14B1F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00150"/>
            <a:ext cx="72199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47EBA"/>
            </a:solidFill>
            <a:prstDash val="dash"/>
          </a:ln>
        </p:spPr>
      </p:sp>
      <p:sp>
        <p:nvSpPr>
          <p:cNvPr id="7" name="future-region-label">
            <a:extLst xmlns:a="http://schemas.openxmlformats.org/drawingml/2006/main">
              <a:ext uri="{FF2B5EF4-FFF2-40B4-BE49-F238E27FC236}">
                <a16:creationId xmlns:a16="http://schemas.microsoft.com/office/drawing/2014/main" id="{D9B23D2E-686C-4939-9303-C95FC015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2763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7EBA"/>
                </a:solidFill>
              </a:defRPr>
            </a:pPr>
            <a:r>
              <a:rPr sz="1350" b="1">
                <a:solidFill>
                  <a:srgbClr val="147EBA"/>
                </a:solidFill>
              </a:rPr>
              <a:t>外部連携・生成保存</a:t>
            </a:r>
          </a:p>
        </p:txBody>
      </p:sp>
      <p:sp>
        <p:nvSpPr>
          <p:cNvPr id="8" name="s2-current-a">
            <a:extLst xmlns:a="http://schemas.openxmlformats.org/drawingml/2006/main">
              <a:ext uri="{FF2B5EF4-FFF2-40B4-BE49-F238E27FC236}">
                <a16:creationId xmlns:a16="http://schemas.microsoft.com/office/drawing/2014/main" id="{545B1B99-E0F5-4D79-BED7-D7931C86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4574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47EBA"/>
            </a:solidFill>
            <a:prstDash val="solid"/>
          </a:ln>
        </p:spPr>
      </p:sp>
      <p:sp>
        <p:nvSpPr>
          <p:cNvPr id="9" name="s2-current-a-head">
            <a:extLst xmlns:a="http://schemas.openxmlformats.org/drawingml/2006/main">
              <a:ext uri="{FF2B5EF4-FFF2-40B4-BE49-F238E27FC236}">
                <a16:creationId xmlns:a16="http://schemas.microsoft.com/office/drawing/2014/main" id="{2901734C-0B19-4125-99EA-E8AE930F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73367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7EBA"/>
          </a:solidFill>
          <a:ln xmlns:a="http://schemas.openxmlformats.org/drawingml/2006/main" w="0">
            <a:solidFill>
              <a:srgbClr val="147EBA"/>
            </a:solidFill>
            <a:prstDash val="solid"/>
          </a:ln>
        </p:spPr>
      </p:sp>
      <p:sp>
        <p:nvSpPr>
          <p:cNvPr id="10" name="s2-current-b">
            <a:extLst xmlns:a="http://schemas.openxmlformats.org/drawingml/2006/main">
              <a:ext uri="{FF2B5EF4-FFF2-40B4-BE49-F238E27FC236}">
                <a16:creationId xmlns:a16="http://schemas.microsoft.com/office/drawing/2014/main" id="{F19C2C0D-6523-461F-9E0E-87920DE2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354330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47EBA"/>
            </a:solidFill>
            <a:prstDash val="solid"/>
          </a:ln>
        </p:spPr>
      </p:sp>
      <p:sp>
        <p:nvSpPr>
          <p:cNvPr id="11" name="s2-current-b-head">
            <a:extLst xmlns:a="http://schemas.openxmlformats.org/drawingml/2006/main">
              <a:ext uri="{FF2B5EF4-FFF2-40B4-BE49-F238E27FC236}">
                <a16:creationId xmlns:a16="http://schemas.microsoft.com/office/drawing/2014/main" id="{39B42442-C936-4D5F-8BCE-4DECC628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81952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7EBA"/>
          </a:solidFill>
          <a:ln xmlns:a="http://schemas.openxmlformats.org/drawingml/2006/main" w="0">
            <a:solidFill>
              <a:srgbClr val="147EBA"/>
            </a:solidFill>
            <a:prstDash val="solid"/>
          </a:ln>
        </p:spPr>
      </p:sp>
      <p:sp>
        <p:nvSpPr>
          <p:cNvPr id="12" name="s2-current-c">
            <a:extLst xmlns:a="http://schemas.openxmlformats.org/drawingml/2006/main">
              <a:ext uri="{FF2B5EF4-FFF2-40B4-BE49-F238E27FC236}">
                <a16:creationId xmlns:a16="http://schemas.microsoft.com/office/drawing/2014/main" id="{76AF5F40-13F7-4E6C-842E-2D4E953F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4724400"/>
            <a:ext cx="0" cy="200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47EBA"/>
            </a:solidFill>
            <a:prstDash val="solid"/>
          </a:ln>
        </p:spPr>
      </p:sp>
      <p:sp>
        <p:nvSpPr>
          <p:cNvPr id="13" name="s2-current-c-head">
            <a:extLst xmlns:a="http://schemas.openxmlformats.org/drawingml/2006/main">
              <a:ext uri="{FF2B5EF4-FFF2-40B4-BE49-F238E27FC236}">
                <a16:creationId xmlns:a16="http://schemas.microsoft.com/office/drawing/2014/main" id="{F91F1BE7-C06F-42D9-BDFD-6845E99F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914900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7EBA"/>
          </a:solidFill>
          <a:ln xmlns:a="http://schemas.openxmlformats.org/drawingml/2006/main" w="0">
            <a:solidFill>
              <a:srgbClr val="147EBA"/>
            </a:solidFill>
            <a:prstDash val="solid"/>
          </a:ln>
        </p:spPr>
      </p:sp>
      <p:sp>
        <p:nvSpPr>
          <p:cNvPr id="14" name="s2-tts-route">
            <a:extLst xmlns:a="http://schemas.openxmlformats.org/drawingml/2006/main">
              <a:ext uri="{FF2B5EF4-FFF2-40B4-BE49-F238E27FC236}">
                <a16:creationId xmlns:a16="http://schemas.microsoft.com/office/drawing/2014/main" id="{1A6B1C4B-63FE-45A8-A572-7FA4CD37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59080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F38B2A"/>
            </a:solidFill>
            <a:prstDash val="dash"/>
          </a:ln>
        </p:spPr>
      </p:sp>
      <p:sp>
        <p:nvSpPr>
          <p:cNvPr id="15" name="s2-tts-route-head">
            <a:extLst xmlns:a="http://schemas.openxmlformats.org/drawingml/2006/main">
              <a:ext uri="{FF2B5EF4-FFF2-40B4-BE49-F238E27FC236}">
                <a16:creationId xmlns:a16="http://schemas.microsoft.com/office/drawing/2014/main" id="{61E047E0-D45E-4616-9127-DEECB2801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895600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38B2A"/>
          </a:solidFill>
          <a:ln xmlns:a="http://schemas.openxmlformats.org/drawingml/2006/main" w="0">
            <a:solidFill>
              <a:srgbClr val="F38B2A"/>
            </a:solidFill>
            <a:prstDash val="solid"/>
          </a:ln>
        </p:spPr>
      </p:sp>
      <p:sp>
        <p:nvSpPr>
          <p:cNvPr id="16" name="s2-video-route">
            <a:extLst xmlns:a="http://schemas.openxmlformats.org/drawingml/2006/main">
              <a:ext uri="{FF2B5EF4-FFF2-40B4-BE49-F238E27FC236}">
                <a16:creationId xmlns:a16="http://schemas.microsoft.com/office/drawing/2014/main" id="{24CE37F8-BA7F-44CE-A8C7-45B9CDDE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90800"/>
            <a:ext cx="0" cy="314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47EBA"/>
            </a:solidFill>
            <a:prstDash val="solid"/>
          </a:ln>
        </p:spPr>
      </p:sp>
      <p:sp>
        <p:nvSpPr>
          <p:cNvPr id="17" name="s2-video-route-head">
            <a:extLst xmlns:a="http://schemas.openxmlformats.org/drawingml/2006/main">
              <a:ext uri="{FF2B5EF4-FFF2-40B4-BE49-F238E27FC236}">
                <a16:creationId xmlns:a16="http://schemas.microsoft.com/office/drawing/2014/main" id="{65FBB41E-DC03-407F-86E7-8729C47F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95600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7EBA"/>
          </a:solidFill>
          <a:ln xmlns:a="http://schemas.openxmlformats.org/drawingml/2006/main" w="0">
            <a:solidFill>
              <a:srgbClr val="147EBA"/>
            </a:solidFill>
            <a:prstDash val="solid"/>
          </a:ln>
        </p:spPr>
      </p:sp>
      <p:sp>
        <p:nvSpPr>
          <p:cNvPr id="18" name="s2-tts-result">
            <a:extLst xmlns:a="http://schemas.openxmlformats.org/drawingml/2006/main">
              <a:ext uri="{FF2B5EF4-FFF2-40B4-BE49-F238E27FC236}">
                <a16:creationId xmlns:a16="http://schemas.microsoft.com/office/drawing/2014/main" id="{FF245B72-E069-4AD3-BB4D-7264CC1F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8481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F38B2A"/>
            </a:solidFill>
            <a:prstDash val="dash"/>
          </a:ln>
        </p:spPr>
      </p:sp>
      <p:sp>
        <p:nvSpPr>
          <p:cNvPr id="19" name="s2-tts-result-head">
            <a:extLst xmlns:a="http://schemas.openxmlformats.org/drawingml/2006/main">
              <a:ext uri="{FF2B5EF4-FFF2-40B4-BE49-F238E27FC236}">
                <a16:creationId xmlns:a16="http://schemas.microsoft.com/office/drawing/2014/main" id="{058BB408-357A-4347-B77F-BEC0E0FA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414337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38B2A"/>
          </a:solidFill>
          <a:ln xmlns:a="http://schemas.openxmlformats.org/drawingml/2006/main" w="0">
            <a:solidFill>
              <a:srgbClr val="F38B2A"/>
            </a:solidFill>
            <a:prstDash val="solid"/>
          </a:ln>
        </p:spPr>
      </p:sp>
      <p:sp>
        <p:nvSpPr>
          <p:cNvPr id="20" name="s2-video-result">
            <a:extLst xmlns:a="http://schemas.openxmlformats.org/drawingml/2006/main">
              <a:ext uri="{FF2B5EF4-FFF2-40B4-BE49-F238E27FC236}">
                <a16:creationId xmlns:a16="http://schemas.microsoft.com/office/drawing/2014/main" id="{729E9E99-971E-47BA-BA2B-4CC82D0AA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4810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147EBA"/>
            </a:solidFill>
            <a:prstDash val="solid"/>
          </a:ln>
        </p:spPr>
      </p:sp>
      <p:sp>
        <p:nvSpPr>
          <p:cNvPr id="21" name="s2-video-result-head">
            <a:extLst xmlns:a="http://schemas.openxmlformats.org/drawingml/2006/main">
              <a:ext uri="{FF2B5EF4-FFF2-40B4-BE49-F238E27FC236}">
                <a16:creationId xmlns:a16="http://schemas.microsoft.com/office/drawing/2014/main" id="{620EE91D-A270-41E7-858E-3CC3FA6B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143375"/>
            <a:ext cx="11430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7EBA"/>
          </a:solidFill>
          <a:ln xmlns:a="http://schemas.openxmlformats.org/drawingml/2006/main" w="0">
            <a:solidFill>
              <a:srgbClr val="147EBA"/>
            </a:solidFill>
            <a:prstDash val="solid"/>
          </a:ln>
        </p:spPr>
      </p:sp>
      <p:sp>
        <p:nvSpPr>
          <p:cNvPr id="22" name="s2-route">
            <a:extLst xmlns:a="http://schemas.openxmlformats.org/drawingml/2006/main">
              <a:ext uri="{FF2B5EF4-FFF2-40B4-BE49-F238E27FC236}">
                <a16:creationId xmlns:a16="http://schemas.microsoft.com/office/drawing/2014/main" id="{B755DBEA-9379-4A28-9221-22DC0FF9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3219450" cy="733425"/>
          </a:xfrm>
          <a:prstGeom xmlns:a="http://schemas.openxmlformats.org/drawingml/2006/main" prst="roundRect">
            <a:avLst>
              <a:gd name="adj" fmla="val 10390"/>
            </a:avLst>
          </a:prstGeom>
          <a:solidFill xmlns:a="http://schemas.openxmlformats.org/drawingml/2006/main">
            <a:srgbClr val="FDECF2"/>
          </a:solidFill>
          <a:ln xmlns:a="http://schemas.openxmlformats.org/drawingml/2006/main" w="13335">
            <a:solidFill>
              <a:srgbClr val="D52F67"/>
            </a:solidFill>
            <a:prstDash val="solid"/>
          </a:ln>
        </p:spPr>
      </p:sp>
      <p:sp>
        <p:nvSpPr>
          <p:cNvPr id="23" name="s2-route-accent">
            <a:extLst xmlns:a="http://schemas.openxmlformats.org/drawingml/2006/main">
              <a:ext uri="{FF2B5EF4-FFF2-40B4-BE49-F238E27FC236}">
                <a16:creationId xmlns:a16="http://schemas.microsoft.com/office/drawing/2014/main" id="{6D8D4A40-3968-45C0-B36C-DA12D400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24025"/>
            <a:ext cx="952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F67"/>
          </a:solidFill>
          <a:ln xmlns:a="http://schemas.openxmlformats.org/drawingml/2006/main" w="13335">
            <a:solidFill>
              <a:srgbClr val="D52F67"/>
            </a:solidFill>
            <a:prstDash val="solid"/>
          </a:ln>
        </p:spPr>
      </p:sp>
      <p:sp>
        <p:nvSpPr>
          <p:cNvPr id="24" name="s2-route-label">
            <a:extLst xmlns:a="http://schemas.openxmlformats.org/drawingml/2006/main">
              <a:ext uri="{FF2B5EF4-FFF2-40B4-BE49-F238E27FC236}">
                <a16:creationId xmlns:a16="http://schemas.microsoft.com/office/drawing/2014/main" id="{FE4D5CA5-236B-46BE-BB53-3BA11FAA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0225"/>
            <a:ext cx="297180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Node API + OrcaRouter</a:t>
            </a:r>
          </a:p>
        </p:txBody>
      </p:sp>
      <p:sp>
        <p:nvSpPr>
          <p:cNvPr id="25" name="s2-route-detail">
            <a:extLst xmlns:a="http://schemas.openxmlformats.org/drawingml/2006/main">
              <a:ext uri="{FF2B5EF4-FFF2-40B4-BE49-F238E27FC236}">
                <a16:creationId xmlns:a16="http://schemas.microsoft.com/office/drawing/2014/main" id="{61C1AA59-446D-40FD-BD2F-C26E76B2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3595"/>
            <a:ext cx="2971800" cy="2876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安全・支援・感情を構造化</a:t>
            </a:r>
          </a:p>
        </p:txBody>
      </p:sp>
      <p:sp>
        <p:nvSpPr>
          <p:cNvPr id="26" name="s2-media">
            <a:extLst xmlns:a="http://schemas.openxmlformats.org/drawingml/2006/main">
              <a:ext uri="{FF2B5EF4-FFF2-40B4-BE49-F238E27FC236}">
                <a16:creationId xmlns:a16="http://schemas.microsoft.com/office/drawing/2014/main" id="{CCDA67C1-B9A1-4FDF-AF6B-AC9A4D13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32194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FEEFF"/>
          </a:solidFill>
          <a:ln xmlns:a="http://schemas.openxmlformats.org/drawingml/2006/main" w="13335">
            <a:solidFill>
              <a:srgbClr val="5A54C9"/>
            </a:solidFill>
            <a:prstDash val="solid"/>
          </a:ln>
        </p:spPr>
      </p:sp>
      <p:sp>
        <p:nvSpPr>
          <p:cNvPr id="27" name="s2-media-accent">
            <a:extLst xmlns:a="http://schemas.openxmlformats.org/drawingml/2006/main">
              <a:ext uri="{FF2B5EF4-FFF2-40B4-BE49-F238E27FC236}">
                <a16:creationId xmlns:a16="http://schemas.microsoft.com/office/drawing/2014/main" id="{30D938A4-F06A-42F5-A6EB-67AF927E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28925"/>
            <a:ext cx="95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4C9"/>
          </a:solidFill>
          <a:ln xmlns:a="http://schemas.openxmlformats.org/drawingml/2006/main" w="13335">
            <a:solidFill>
              <a:srgbClr val="5A54C9"/>
            </a:solidFill>
            <a:prstDash val="solid"/>
          </a:ln>
        </p:spPr>
      </p:sp>
      <p:sp>
        <p:nvSpPr>
          <p:cNvPr id="28" name="s2-media-label">
            <a:extLst xmlns:a="http://schemas.openxmlformats.org/drawingml/2006/main">
              <a:ext uri="{FF2B5EF4-FFF2-40B4-BE49-F238E27FC236}">
                <a16:creationId xmlns:a16="http://schemas.microsoft.com/office/drawing/2014/main" id="{C89828FC-9A9B-4761-80DE-2F8C9D32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Media Provider</a:t>
            </a:r>
          </a:p>
        </p:txBody>
      </p:sp>
      <p:sp>
        <p:nvSpPr>
          <p:cNvPr id="29" name="s2-media-detail">
            <a:extLst xmlns:a="http://schemas.openxmlformats.org/drawingml/2006/main">
              <a:ext uri="{FF2B5EF4-FFF2-40B4-BE49-F238E27FC236}">
                <a16:creationId xmlns:a16="http://schemas.microsoft.com/office/drawing/2014/main" id="{F95A09BA-2AF7-44A9-A456-8AC73E96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90875"/>
            <a:ext cx="2971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LEVEL 1〜4 フォールバック</a:t>
            </a:r>
          </a:p>
        </p:txBody>
      </p:sp>
      <p:sp>
        <p:nvSpPr>
          <p:cNvPr id="30" name="s2-current">
            <a:extLst xmlns:a="http://schemas.openxmlformats.org/drawingml/2006/main">
              <a:ext uri="{FF2B5EF4-FFF2-40B4-BE49-F238E27FC236}">
                <a16:creationId xmlns:a16="http://schemas.microsoft.com/office/drawing/2014/main" id="{5A53EEA2-A3A6-4255-BAC9-9551A972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32194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3335">
            <a:solidFill>
              <a:srgbClr val="147EBA"/>
            </a:solidFill>
            <a:prstDash val="solid"/>
          </a:ln>
        </p:spPr>
      </p:sp>
      <p:sp>
        <p:nvSpPr>
          <p:cNvPr id="31" name="s2-current-accent">
            <a:extLst xmlns:a="http://schemas.openxmlformats.org/drawingml/2006/main">
              <a:ext uri="{FF2B5EF4-FFF2-40B4-BE49-F238E27FC236}">
                <a16:creationId xmlns:a16="http://schemas.microsoft.com/office/drawing/2014/main" id="{43F4D936-D13D-4BE6-9DAC-18BF38EDD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95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EBA"/>
          </a:solidFill>
          <a:ln xmlns:a="http://schemas.openxmlformats.org/drawingml/2006/main" w="13335">
            <a:solidFill>
              <a:srgbClr val="147EBA"/>
            </a:solidFill>
            <a:prstDash val="solid"/>
          </a:ln>
        </p:spPr>
      </p:sp>
      <p:sp>
        <p:nvSpPr>
          <p:cNvPr id="32" name="s2-current-label">
            <a:extLst xmlns:a="http://schemas.openxmlformats.org/drawingml/2006/main">
              <a:ext uri="{FF2B5EF4-FFF2-40B4-BE49-F238E27FC236}">
                <a16:creationId xmlns:a16="http://schemas.microsoft.com/office/drawing/2014/main" id="{85FC1386-2E66-4ED6-8D89-A13873972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909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現在の即時返答</a:t>
            </a:r>
          </a:p>
        </p:txBody>
      </p:sp>
      <p:sp>
        <p:nvSpPr>
          <p:cNvPr id="33" name="s2-current-detail">
            <a:extLst xmlns:a="http://schemas.openxmlformats.org/drawingml/2006/main">
              <a:ext uri="{FF2B5EF4-FFF2-40B4-BE49-F238E27FC236}">
                <a16:creationId xmlns:a16="http://schemas.microsoft.com/office/drawing/2014/main" id="{198171EA-721C-4809-B077-BE225990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2971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保存MP4 + 動的音声 + 字幕</a:t>
            </a:r>
          </a:p>
        </p:txBody>
      </p:sp>
      <p:sp>
        <p:nvSpPr>
          <p:cNvPr id="34" name="s2-safety">
            <a:extLst xmlns:a="http://schemas.openxmlformats.org/drawingml/2006/main">
              <a:ext uri="{FF2B5EF4-FFF2-40B4-BE49-F238E27FC236}">
                <a16:creationId xmlns:a16="http://schemas.microsoft.com/office/drawing/2014/main" id="{599EBC8E-FD45-432E-8458-82ECC33C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32194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DECF2"/>
          </a:solidFill>
          <a:ln xmlns:a="http://schemas.openxmlformats.org/drawingml/2006/main" w="13335">
            <a:solidFill>
              <a:srgbClr val="C7364F"/>
            </a:solidFill>
            <a:prstDash val="solid"/>
          </a:ln>
        </p:spPr>
      </p:sp>
      <p:sp>
        <p:nvSpPr>
          <p:cNvPr id="35" name="s2-safety-accent">
            <a:extLst xmlns:a="http://schemas.openxmlformats.org/drawingml/2006/main">
              <a:ext uri="{FF2B5EF4-FFF2-40B4-BE49-F238E27FC236}">
                <a16:creationId xmlns:a16="http://schemas.microsoft.com/office/drawing/2014/main" id="{C0438676-2CFF-4A61-B3C0-52F5BFC95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95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64F"/>
          </a:solidFill>
          <a:ln xmlns:a="http://schemas.openxmlformats.org/drawingml/2006/main" w="13335">
            <a:solidFill>
              <a:srgbClr val="C7364F"/>
            </a:solidFill>
            <a:prstDash val="solid"/>
          </a:ln>
        </p:spPr>
      </p:sp>
      <p:sp>
        <p:nvSpPr>
          <p:cNvPr id="36" name="s2-safety-label">
            <a:extLst xmlns:a="http://schemas.openxmlformats.org/drawingml/2006/main">
              <a:ext uri="{FF2B5EF4-FFF2-40B4-BE49-F238E27FC236}">
                <a16:creationId xmlns:a16="http://schemas.microsoft.com/office/drawing/2014/main" id="{37966299-A2BC-41D2-AFAD-7CC208BF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2971800" cy="2590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安全分岐</a:t>
            </a:r>
          </a:p>
        </p:txBody>
      </p:sp>
      <p:sp>
        <p:nvSpPr>
          <p:cNvPr id="37" name="s2-safety-detail">
            <a:extLst xmlns:a="http://schemas.openxmlformats.org/drawingml/2006/main">
              <a:ext uri="{FF2B5EF4-FFF2-40B4-BE49-F238E27FC236}">
                <a16:creationId xmlns:a16="http://schemas.microsoft.com/office/drawing/2014/main" id="{8814B830-996B-48EC-BF6D-2459D79CF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45430"/>
            <a:ext cx="2971800" cy="236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親らしいメディアを止め、大人へ</a:t>
            </a:r>
          </a:p>
        </p:txBody>
      </p:sp>
      <p:sp>
        <p:nvSpPr>
          <p:cNvPr id="38" name="s2-gateway">
            <a:extLst xmlns:a="http://schemas.openxmlformats.org/drawingml/2006/main">
              <a:ext uri="{FF2B5EF4-FFF2-40B4-BE49-F238E27FC236}">
                <a16:creationId xmlns:a16="http://schemas.microsoft.com/office/drawing/2014/main" id="{FFE6F66B-4472-47B6-95F7-F8E0D2FC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66484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DECF2"/>
          </a:solidFill>
          <a:ln xmlns:a="http://schemas.openxmlformats.org/drawingml/2006/main" w="13335">
            <a:solidFill>
              <a:srgbClr val="D52F67"/>
            </a:solidFill>
            <a:prstDash val="solid"/>
          </a:ln>
        </p:spPr>
      </p:sp>
      <p:sp>
        <p:nvSpPr>
          <p:cNvPr id="39" name="s2-gateway-accent">
            <a:extLst xmlns:a="http://schemas.openxmlformats.org/drawingml/2006/main">
              <a:ext uri="{FF2B5EF4-FFF2-40B4-BE49-F238E27FC236}">
                <a16:creationId xmlns:a16="http://schemas.microsoft.com/office/drawing/2014/main" id="{320ACA44-B4AF-49BC-B3E5-9822AF8DE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95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2F67"/>
          </a:solidFill>
          <a:ln xmlns:a="http://schemas.openxmlformats.org/drawingml/2006/main" w="13335">
            <a:solidFill>
              <a:srgbClr val="D52F67"/>
            </a:solidFill>
            <a:prstDash val="solid"/>
          </a:ln>
        </p:spPr>
      </p:sp>
      <p:sp>
        <p:nvSpPr>
          <p:cNvPr id="40" name="s2-gateway-label">
            <a:extLst xmlns:a="http://schemas.openxmlformats.org/drawingml/2006/main">
              <a:ext uri="{FF2B5EF4-FFF2-40B4-BE49-F238E27FC236}">
                <a16:creationId xmlns:a16="http://schemas.microsoft.com/office/drawing/2014/main" id="{5737FD35-92E4-4878-94DA-4FB58A04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90700"/>
            <a:ext cx="6400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OrcaRouter API ゲートウェイ</a:t>
            </a:r>
          </a:p>
        </p:txBody>
      </p:sp>
      <p:sp>
        <p:nvSpPr>
          <p:cNvPr id="41" name="s2-gateway-detail">
            <a:extLst xmlns:a="http://schemas.openxmlformats.org/drawingml/2006/main">
              <a:ext uri="{FF2B5EF4-FFF2-40B4-BE49-F238E27FC236}">
                <a16:creationId xmlns:a16="http://schemas.microsoft.com/office/drawing/2014/main" id="{BB439AC3-D245-49E7-B44A-EBCA7143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14550"/>
            <a:ext cx="640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Kling動画へルーティング／外部TTSも追加可能</a:t>
            </a:r>
          </a:p>
        </p:txBody>
      </p:sp>
      <p:sp>
        <p:nvSpPr>
          <p:cNvPr id="42" name="s2-tts">
            <a:extLst xmlns:a="http://schemas.openxmlformats.org/drawingml/2006/main">
              <a:ext uri="{FF2B5EF4-FFF2-40B4-BE49-F238E27FC236}">
                <a16:creationId xmlns:a16="http://schemas.microsoft.com/office/drawing/2014/main" id="{E9EFD575-2E42-492C-8C66-151CD2F2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29908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2E5"/>
          </a:solidFill>
          <a:ln xmlns:a="http://schemas.openxmlformats.org/drawingml/2006/main" w="13335">
            <a:solidFill>
              <a:srgbClr val="F38B2A"/>
            </a:solidFill>
            <a:prstDash val="solid"/>
          </a:ln>
        </p:spPr>
      </p:sp>
      <p:sp>
        <p:nvSpPr>
          <p:cNvPr id="43" name="s2-tts-accent">
            <a:extLst xmlns:a="http://schemas.openxmlformats.org/drawingml/2006/main">
              <a:ext uri="{FF2B5EF4-FFF2-40B4-BE49-F238E27FC236}">
                <a16:creationId xmlns:a16="http://schemas.microsoft.com/office/drawing/2014/main" id="{14895FE8-C6FF-4796-B9C6-70B28EBEA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90850"/>
            <a:ext cx="9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8B2A"/>
          </a:solidFill>
          <a:ln xmlns:a="http://schemas.openxmlformats.org/drawingml/2006/main" w="13335">
            <a:solidFill>
              <a:srgbClr val="F38B2A"/>
            </a:solidFill>
            <a:prstDash val="solid"/>
          </a:ln>
        </p:spPr>
      </p:sp>
      <p:sp>
        <p:nvSpPr>
          <p:cNvPr id="44" name="s2-tts-label">
            <a:extLst xmlns:a="http://schemas.openxmlformats.org/drawingml/2006/main">
              <a:ext uri="{FF2B5EF4-FFF2-40B4-BE49-F238E27FC236}">
                <a16:creationId xmlns:a16="http://schemas.microsoft.com/office/drawing/2014/main" id="{43B3B2E4-5F3E-496E-A064-8F248ABF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670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同期TTS</a:t>
            </a:r>
          </a:p>
        </p:txBody>
      </p:sp>
      <p:sp>
        <p:nvSpPr>
          <p:cNvPr id="45" name="s2-tts-detail">
            <a:extLst xmlns:a="http://schemas.openxmlformats.org/drawingml/2006/main">
              <a:ext uri="{FF2B5EF4-FFF2-40B4-BE49-F238E27FC236}">
                <a16:creationId xmlns:a16="http://schemas.microsoft.com/office/drawing/2014/main" id="{9DF2376D-AD41-42FB-AE2D-D578B613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390900"/>
            <a:ext cx="2743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/v1/audio/speech（OpenAI系）</a:t>
            </a:r>
          </a:p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Gemini TTSは /v1beta/</a:t>
            </a:r>
          </a:p>
        </p:txBody>
      </p:sp>
      <p:sp>
        <p:nvSpPr>
          <p:cNvPr id="46" name="s2-video">
            <a:extLst xmlns:a="http://schemas.openxmlformats.org/drawingml/2006/main">
              <a:ext uri="{FF2B5EF4-FFF2-40B4-BE49-F238E27FC236}">
                <a16:creationId xmlns:a16="http://schemas.microsoft.com/office/drawing/2014/main" id="{7B5AB1CC-4F98-4013-BE92-1049451E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90850"/>
            <a:ext cx="3238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3335">
            <a:solidFill>
              <a:srgbClr val="147EBA"/>
            </a:solidFill>
            <a:prstDash val="solid"/>
          </a:ln>
        </p:spPr>
      </p:sp>
      <p:sp>
        <p:nvSpPr>
          <p:cNvPr id="47" name="s2-video-accent">
            <a:extLst xmlns:a="http://schemas.openxmlformats.org/drawingml/2006/main">
              <a:ext uri="{FF2B5EF4-FFF2-40B4-BE49-F238E27FC236}">
                <a16:creationId xmlns:a16="http://schemas.microsoft.com/office/drawing/2014/main" id="{F1C6BDB9-E674-41DD-858B-AB5EC966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90850"/>
            <a:ext cx="95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EBA"/>
          </a:solidFill>
          <a:ln xmlns:a="http://schemas.openxmlformats.org/drawingml/2006/main" w="13335">
            <a:solidFill>
              <a:srgbClr val="147EBA"/>
            </a:solidFill>
            <a:prstDash val="solid"/>
          </a:ln>
        </p:spPr>
      </p:sp>
      <p:sp>
        <p:nvSpPr>
          <p:cNvPr id="48" name="s2-video-label">
            <a:extLst xmlns:a="http://schemas.openxmlformats.org/drawingml/2006/main">
              <a:ext uri="{FF2B5EF4-FFF2-40B4-BE49-F238E27FC236}">
                <a16:creationId xmlns:a16="http://schemas.microsoft.com/office/drawing/2014/main" id="{DF26CFB0-8C77-48B7-9458-A2EA0876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0670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Kling実動画（実装済み）</a:t>
            </a:r>
          </a:p>
        </p:txBody>
      </p:sp>
      <p:sp>
        <p:nvSpPr>
          <p:cNvPr id="49" name="s2-video-detail">
            <a:extLst xmlns:a="http://schemas.openxmlformats.org/drawingml/2006/main">
              <a:ext uri="{FF2B5EF4-FFF2-40B4-BE49-F238E27FC236}">
                <a16:creationId xmlns:a16="http://schemas.microsoft.com/office/drawing/2014/main" id="{6FD5CC37-6D08-4E3D-8595-B2DDE587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90900"/>
            <a:ext cx="2990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/v1/video/generations</a:t>
            </a:r>
          </a:p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登録写真 → 約5秒MP4</a:t>
            </a:r>
          </a:p>
        </p:txBody>
      </p:sp>
      <p:sp>
        <p:nvSpPr>
          <p:cNvPr id="50" name="s2-realtime">
            <a:extLst xmlns:a="http://schemas.openxmlformats.org/drawingml/2006/main">
              <a:ext uri="{FF2B5EF4-FFF2-40B4-BE49-F238E27FC236}">
                <a16:creationId xmlns:a16="http://schemas.microsoft.com/office/drawing/2014/main" id="{FFAED919-7A69-4984-9DB5-3B8E43487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38625"/>
            <a:ext cx="29908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7EE"/>
          </a:solidFill>
          <a:ln xmlns:a="http://schemas.openxmlformats.org/drawingml/2006/main" w="13335">
            <a:solidFill>
              <a:srgbClr val="35A853"/>
            </a:solidFill>
            <a:prstDash val="solid"/>
          </a:ln>
        </p:spPr>
      </p:sp>
      <p:sp>
        <p:nvSpPr>
          <p:cNvPr id="51" name="s2-realtime-accent">
            <a:extLst xmlns:a="http://schemas.openxmlformats.org/drawingml/2006/main">
              <a:ext uri="{FF2B5EF4-FFF2-40B4-BE49-F238E27FC236}">
                <a16:creationId xmlns:a16="http://schemas.microsoft.com/office/drawing/2014/main" id="{16102897-EA58-40B4-BB89-B745BD2EE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38625"/>
            <a:ext cx="9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A853"/>
          </a:solidFill>
          <a:ln xmlns:a="http://schemas.openxmlformats.org/drawingml/2006/main" w="13335">
            <a:solidFill>
              <a:srgbClr val="35A853"/>
            </a:solidFill>
            <a:prstDash val="solid"/>
          </a:ln>
        </p:spPr>
      </p:sp>
      <p:sp>
        <p:nvSpPr>
          <p:cNvPr id="52" name="s2-realtime-label">
            <a:extLst xmlns:a="http://schemas.openxmlformats.org/drawingml/2006/main">
              <a:ext uri="{FF2B5EF4-FFF2-40B4-BE49-F238E27FC236}">
                <a16:creationId xmlns:a16="http://schemas.microsoft.com/office/drawing/2014/main" id="{8A4A650F-EBD6-4475-8BBB-760C410DD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14825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会話時の同時再生</a:t>
            </a:r>
          </a:p>
        </p:txBody>
      </p:sp>
      <p:sp>
        <p:nvSpPr>
          <p:cNvPr id="53" name="s2-realtime-detail">
            <a:extLst xmlns:a="http://schemas.openxmlformats.org/drawingml/2006/main">
              <a:ext uri="{FF2B5EF4-FFF2-40B4-BE49-F238E27FC236}">
                <a16:creationId xmlns:a16="http://schemas.microsoft.com/office/drawing/2014/main" id="{07832720-A120-4E25-A05F-297A6931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638675"/>
            <a:ext cx="2743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保存MP4をループ</a:t>
            </a:r>
          </a:p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+ ブラウザ音声 + 字幕</a:t>
            </a:r>
          </a:p>
        </p:txBody>
      </p:sp>
      <p:sp>
        <p:nvSpPr>
          <p:cNvPr id="54" name="s2-async">
            <a:extLst xmlns:a="http://schemas.openxmlformats.org/drawingml/2006/main">
              <a:ext uri="{FF2B5EF4-FFF2-40B4-BE49-F238E27FC236}">
                <a16:creationId xmlns:a16="http://schemas.microsoft.com/office/drawing/2014/main" id="{6527EBAC-9BC7-4A7C-9068-0CE399E9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38625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FEEFF"/>
          </a:solidFill>
          <a:ln xmlns:a="http://schemas.openxmlformats.org/drawingml/2006/main" w="13335">
            <a:solidFill>
              <a:srgbClr val="5A54C9"/>
            </a:solidFill>
            <a:prstDash val="solid"/>
          </a:ln>
        </p:spPr>
      </p:sp>
      <p:sp>
        <p:nvSpPr>
          <p:cNvPr id="55" name="s2-async-accent">
            <a:extLst xmlns:a="http://schemas.openxmlformats.org/drawingml/2006/main">
              <a:ext uri="{FF2B5EF4-FFF2-40B4-BE49-F238E27FC236}">
                <a16:creationId xmlns:a16="http://schemas.microsoft.com/office/drawing/2014/main" id="{5CABF863-A2C5-4D91-981A-F8EA6F90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238625"/>
            <a:ext cx="95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54C9"/>
          </a:solidFill>
          <a:ln xmlns:a="http://schemas.openxmlformats.org/drawingml/2006/main" w="13335">
            <a:solidFill>
              <a:srgbClr val="5A54C9"/>
            </a:solidFill>
            <a:prstDash val="solid"/>
          </a:ln>
        </p:spPr>
      </p:sp>
      <p:sp>
        <p:nvSpPr>
          <p:cNvPr id="56" name="s2-async-label">
            <a:extLst xmlns:a="http://schemas.openxmlformats.org/drawingml/2006/main">
              <a:ext uri="{FF2B5EF4-FFF2-40B4-BE49-F238E27FC236}">
                <a16:creationId xmlns:a16="http://schemas.microsoft.com/office/drawing/2014/main" id="{EC0D46D2-77A3-4073-B9C9-86D1DD25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14825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登録時の非同期生成</a:t>
            </a:r>
          </a:p>
        </p:txBody>
      </p:sp>
      <p:sp>
        <p:nvSpPr>
          <p:cNvPr id="57" name="s2-async-detail">
            <a:extLst xmlns:a="http://schemas.openxmlformats.org/drawingml/2006/main">
              <a:ext uri="{FF2B5EF4-FFF2-40B4-BE49-F238E27FC236}">
                <a16:creationId xmlns:a16="http://schemas.microsoft.com/office/drawing/2014/main" id="{621DBCDC-86B1-43D3-A187-4030C409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38675"/>
            <a:ext cx="2990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submit → poll → download</a:t>
            </a:r>
          </a:p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AES-256-GCM保存</a:t>
            </a:r>
          </a:p>
        </p:txBody>
      </p:sp>
      <p:sp>
        <p:nvSpPr>
          <p:cNvPr id="58" name="s2-lipsync">
            <a:extLst xmlns:a="http://schemas.openxmlformats.org/drawingml/2006/main">
              <a:ext uri="{FF2B5EF4-FFF2-40B4-BE49-F238E27FC236}">
                <a16:creationId xmlns:a16="http://schemas.microsoft.com/office/drawing/2014/main" id="{58A91C95-2080-4397-A5DC-BBC329DE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62550"/>
            <a:ext cx="66484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DECF2"/>
          </a:solidFill>
          <a:ln xmlns:a="http://schemas.openxmlformats.org/drawingml/2006/main" w="13335">
            <a:solidFill>
              <a:srgbClr val="C7364F"/>
            </a:solidFill>
            <a:prstDash val="solid"/>
          </a:ln>
        </p:spPr>
      </p:sp>
      <p:sp>
        <p:nvSpPr>
          <p:cNvPr id="59" name="s2-lipsync-accent">
            <a:extLst xmlns:a="http://schemas.openxmlformats.org/drawingml/2006/main">
              <a:ext uri="{FF2B5EF4-FFF2-40B4-BE49-F238E27FC236}">
                <a16:creationId xmlns:a16="http://schemas.microsoft.com/office/drawing/2014/main" id="{F25DBF95-9BB1-4CF8-A746-547F6746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62550"/>
            <a:ext cx="95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364F"/>
          </a:solidFill>
          <a:ln xmlns:a="http://schemas.openxmlformats.org/drawingml/2006/main" w="13335">
            <a:solidFill>
              <a:srgbClr val="C7364F"/>
            </a:solidFill>
            <a:prstDash val="solid"/>
          </a:ln>
        </p:spPr>
      </p:sp>
      <p:sp>
        <p:nvSpPr>
          <p:cNvPr id="60" name="s2-lipsync-label">
            <a:extLst xmlns:a="http://schemas.openxmlformats.org/drawingml/2006/main">
              <a:ext uri="{FF2B5EF4-FFF2-40B4-BE49-F238E27FC236}">
                <a16:creationId xmlns:a16="http://schemas.microsoft.com/office/drawing/2014/main" id="{320B5CCE-856B-4A4A-A9F4-F85CB180F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238750"/>
            <a:ext cx="6400800" cy="243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B3A"/>
                </a:solidFill>
              </a:defRPr>
            </a:pPr>
            <a:r>
              <a:rPr sz="1425" b="1">
                <a:solidFill>
                  <a:srgbClr val="172B3A"/>
                </a:solidFill>
              </a:rPr>
              <a:t>将来枠：真のリップシンク動画</a:t>
            </a:r>
          </a:p>
        </p:txBody>
      </p:sp>
      <p:sp>
        <p:nvSpPr>
          <p:cNvPr id="61" name="s2-lipsync-detail">
            <a:extLst xmlns:a="http://schemas.openxmlformats.org/drawingml/2006/main">
              <a:ext uri="{FF2B5EF4-FFF2-40B4-BE49-F238E27FC236}">
                <a16:creationId xmlns:a16="http://schemas.microsoft.com/office/drawing/2014/main" id="{4C5CC6EF-83E3-4208-AFE9-6D47416E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482590"/>
            <a:ext cx="64008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親声クローン + Talking Avatar（未実装）／同意・安全ガード必須</a:t>
            </a:r>
          </a:p>
        </p:txBody>
      </p:sp>
      <p:sp>
        <p:nvSpPr>
          <p:cNvPr id="62" name="footer2">
            <a:extLst xmlns:a="http://schemas.openxmlformats.org/drawingml/2006/main">
              <a:ext uri="{FF2B5EF4-FFF2-40B4-BE49-F238E27FC236}">
                <a16:creationId xmlns:a16="http://schemas.microsoft.com/office/drawing/2014/main" id="{4F211063-B5E5-424F-AB05-2E3A9122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2935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Kling生成は典型30〜90秒。保護者登録時に1回生成し、会話中は完成動画を即時利用する。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BA68CD7-BE20-4775-B61A-159D65B4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2674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147EBA"/>
            </a:solidFill>
            <a:prstDash val="solid"/>
          </a:ln>
        </p:spPr>
      </p:sp>
      <p:sp>
        <p:nvSpPr>
          <p:cNvPr id="64" name="legend-実装済み">
            <a:extLst xmlns:a="http://schemas.openxmlformats.org/drawingml/2006/main">
              <a:ext uri="{FF2B5EF4-FFF2-40B4-BE49-F238E27FC236}">
                <a16:creationId xmlns:a16="http://schemas.microsoft.com/office/drawing/2014/main" id="{674A4E3B-6D9C-4001-B9AF-2281E744D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172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実装済み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CC6EFC4-1744-4718-AF08-51371E11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2674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4765">
            <a:solidFill>
              <a:srgbClr val="F38B2A"/>
            </a:solidFill>
            <a:prstDash val="dash"/>
          </a:ln>
        </p:spPr>
      </p:sp>
      <p:sp>
        <p:nvSpPr>
          <p:cNvPr id="66" name="legend-将来">
            <a:extLst xmlns:a="http://schemas.openxmlformats.org/drawingml/2006/main">
              <a:ext uri="{FF2B5EF4-FFF2-40B4-BE49-F238E27FC236}">
                <a16:creationId xmlns:a16="http://schemas.microsoft.com/office/drawing/2014/main" id="{C145DA47-3C52-4682-8096-0C315E7E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72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7180"/>
                </a:solidFill>
              </a:defRPr>
            </a:pPr>
            <a:r>
              <a:rPr sz="1200" b="0">
                <a:solidFill>
                  <a:srgbClr val="5D7180"/>
                </a:solidFill>
              </a:rPr>
              <a:t>将来</a:t>
            </a:r>
          </a:p>
        </p:txBody>
      </p:sp>
    </p:spTree>
    <p:extLst>
      <p:ext uri="{BB962C8B-B14F-4D97-AF65-F5344CB8AC3E}">
        <p14:creationId xmlns:p14="http://schemas.microsoft.com/office/powerpoint/2010/main" val="18496670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2026-08-14T04:40:14.7670000Z</dcterms:created>
  <dcterms:modified xsi:type="dcterms:W3CDTF">2026-08-14T04:40:14.7670000Z</dcterms:modified>
</coreProperties>
</file>