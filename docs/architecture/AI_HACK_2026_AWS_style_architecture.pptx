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b4efa21404b32" /><Relationship Type="http://schemas.openxmlformats.org/officeDocument/2006/relationships/extended-properties" Target="/docProps/app.xml" Id="R726045145a494b03" /><Relationship Type="http://schemas.openxmlformats.org/officeDocument/2006/relationships/officeDocument" Target="/ppt/presentation.xml" Id="Rf835fed2ca8341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d1852ed12c4ae3"/>
  </p:sldMasterIdLst>
  <p:notesMasterIdLst>
    <p:notesMasterId xmlns:r="http://schemas.openxmlformats.org/officeDocument/2006/relationships" r:id="R8df2eb02f57e45c9"/>
  </p:notesMasterIdLst>
  <p:sldIdLst>
    <p:sldId xmlns:r="http://schemas.openxmlformats.org/officeDocument/2006/relationships" id="256" r:id="R9158b6e898e744cc"/>
    <p:sldId xmlns:r="http://schemas.openxmlformats.org/officeDocument/2006/relationships" id="257" r:id="R06712ec99ecd4a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857d95dadb4642" /><Relationship Type="http://schemas.openxmlformats.org/officeDocument/2006/relationships/slideMaster" Target="/ppt/slideMasters/slideMaster1.xml" Id="Rd9d1852ed12c4ae3" /><Relationship Type="http://schemas.openxmlformats.org/officeDocument/2006/relationships/notesMaster" Target="/ppt/notesMasters/notesMaster1.xml" Id="R8df2eb02f57e45c9" /><Relationship Type="http://schemas.openxmlformats.org/officeDocument/2006/relationships/presProps" Target="/ppt/presProps.xml" Id="Rf919653b0c9d4aa2" /><Relationship Type="http://schemas.openxmlformats.org/officeDocument/2006/relationships/tableStyles" Target="/ppt/tableStyles.xml" Id="R63789e71cd51407f" /><Relationship Type="http://schemas.openxmlformats.org/officeDocument/2006/relationships/slide" Target="/ppt/slides/slide1.xml" Id="R9158b6e898e744cc" /><Relationship Type="http://schemas.openxmlformats.org/officeDocument/2006/relationships/slide" Target="/ppt/slides/slide2.xml" Id="R06712ec99ecd4a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8fa0d4121443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dd24223c584f12" /><Relationship Type="http://schemas.openxmlformats.org/officeDocument/2006/relationships/notesMaster" Target="/ppt/notesMasters/notesMaster1.xml" Id="R5f0d0c24f52a43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65642216874ef0" /><Relationship Type="http://schemas.openxmlformats.org/officeDocument/2006/relationships/notesMaster" Target="/ppt/notesMasters/notesMaster1.xml" Id="R70529f65375b49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README.md（現在の実装、OrcaRouterの役割、LEVEL 3、暗号化保存）</a:t>
            </a:r>
          </a:p>
          <a:p xmlns:a="http://schemas.openxmlformats.org/drawingml/2006/main">
            <a:r>
              <a:t>- public/app.js（sessionId、ブラウザTTS、写真アニメーション）</a:t>
            </a:r>
          </a:p>
          <a:p xmlns:a="http://schemas.openxmlformats.org/drawingml/2006/main">
            <a:r>
              <a:t>- server.mjs（Node API、判定、返答バンドル）</a:t>
            </a:r>
          </a:p>
          <a:p xmlns:a="http://schemas.openxmlformats.org/drawingml/2006/main">
            <a:r>
              <a:t>- lib/providers/stt.mjs / orcarouter.mjs / media.mjs（プロバイダー境界）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https://docs.orcarouter.ai/introduction（OrcaRouterはOpenAI互換APIゲートウェイ）</a:t>
            </a:r>
          </a:p>
          <a:p xmlns:a="http://schemas.openxmlformats.org/drawingml/2006/main">
            <a:r>
              <a:t>- https://docs.orcarouter.ai/other-apis/tts（/v1/audio/speech とGemini /v1beta/）</a:t>
            </a:r>
          </a:p>
          <a:p xmlns:a="http://schemas.openxmlformats.org/drawingml/2006/main">
            <a:r>
              <a:t>- https://docs.orcarouter.ai/kling-video/overview（非同期 /v1/video/generations、典型30〜90秒）</a:t>
            </a:r>
          </a:p>
          <a:p xmlns:a="http://schemas.openxmlformats.org/drawingml/2006/main">
            <a:r>
              <a:t>- https://docs.orcarouter.ai/seedance-video/overview（非同期submit/poll、典型30秒〜4分）</a:t>
            </a:r>
          </a:p>
          <a:p xmlns:a="http://schemas.openxmlformats.org/drawingml/2006/main">
            <a:r>
              <a:t>- README.md / lib/providers/media.mjs（現行実装とLEVEL 1〜4境界）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ec8481a06742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8db56094a04243" /><Relationship Type="http://schemas.openxmlformats.org/officeDocument/2006/relationships/slideLayout" Target="/ppt/slideLayouts/slideLayout1.xml" Id="Rb4cb6640fc8248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cb6640fc8248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131dcfe614fbb" /><Relationship Type="http://schemas.openxmlformats.org/officeDocument/2006/relationships/notesSlide" Target="/ppt/notesSlides/notesSlide1.xml" Id="R4eb04b7f30cf4b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fa2eb981a4ca5" /><Relationship Type="http://schemas.openxmlformats.org/officeDocument/2006/relationships/notesSlide" Target="/ppt/notesSlides/notesSlide2.xml" Id="R354442f5ec3a4f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slide-1-title">
            <a:extLst xmlns:a="http://schemas.openxmlformats.org/drawingml/2006/main">
              <a:ext uri="{FF2B5EF4-FFF2-40B4-BE49-F238E27FC236}">
                <a16:creationId xmlns:a16="http://schemas.microsoft.com/office/drawing/2014/main" id="{C6ED3A71-E9CF-4640-88B3-013DA577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B3A"/>
                </a:solidFill>
              </a:defRPr>
            </a:pPr>
            <a:r>
              <a:rPr sz="2850" b="1">
                <a:solidFill>
                  <a:srgbClr val="172B3A"/>
                </a:solidFill>
              </a:rPr>
              <a:t>子どもの声を、安全な3つの返答へ</a:t>
            </a:r>
          </a:p>
        </p:txBody>
      </p:sp>
      <p:sp>
        <p:nvSpPr>
          <p:cNvPr id="2" name="slide-1-subtitle">
            <a:extLst xmlns:a="http://schemas.openxmlformats.org/drawingml/2006/main">
              <a:ext uri="{FF2B5EF4-FFF2-40B4-BE49-F238E27FC236}">
                <a16:creationId xmlns:a16="http://schemas.microsoft.com/office/drawing/2014/main" id="{A1663BDF-4C5F-485E-9747-1A6B5DCE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7180"/>
                </a:solidFill>
              </a:defRPr>
            </a:pPr>
            <a:r>
              <a:rPr sz="1350" b="0">
                <a:solidFill>
                  <a:srgbClr val="5D7180"/>
                </a:solidFill>
              </a:rPr>
              <a:t>現行MVP：判断はOrcaRouter、提示はブラウザで同時にそろえる</a:t>
            </a:r>
          </a:p>
        </p:txBody>
      </p:sp>
      <p:sp>
        <p:nvSpPr>
          <p:cNvPr id="3" name="slide-1-number">
            <a:extLst xmlns:a="http://schemas.openxmlformats.org/drawingml/2006/main">
              <a:ext uri="{FF2B5EF4-FFF2-40B4-BE49-F238E27FC236}">
                <a16:creationId xmlns:a16="http://schemas.microsoft.com/office/drawing/2014/main" id="{1DC6F079-88C8-41A1-86A3-345288E9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3048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7EBA"/>
                </a:solidFill>
              </a:defRPr>
            </a:pPr>
            <a:r>
              <a:rPr sz="1500" b="1">
                <a:solidFill>
                  <a:srgbClr val="147EBA"/>
                </a:solidFill>
              </a:rPr>
              <a:t>01</a:t>
            </a:r>
          </a:p>
        </p:txBody>
      </p:sp>
      <p:sp>
        <p:nvSpPr>
          <p:cNvPr id="4" name="browser-region">
            <a:extLst xmlns:a="http://schemas.openxmlformats.org/drawingml/2006/main">
              <a:ext uri="{FF2B5EF4-FFF2-40B4-BE49-F238E27FC236}">
                <a16:creationId xmlns:a16="http://schemas.microsoft.com/office/drawing/2014/main" id="{1C80A679-9B69-4CED-B7E1-F5F89F41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81100"/>
            <a:ext cx="4305300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7EBA"/>
            </a:solidFill>
            <a:prstDash val="dash"/>
          </a:ln>
        </p:spPr>
      </p:sp>
      <p:sp>
        <p:nvSpPr>
          <p:cNvPr id="5" name="browser-region-label">
            <a:extLst xmlns:a="http://schemas.openxmlformats.org/drawingml/2006/main">
              <a:ext uri="{FF2B5EF4-FFF2-40B4-BE49-F238E27FC236}">
                <a16:creationId xmlns:a16="http://schemas.microsoft.com/office/drawing/2014/main" id="{9F21D254-9DF0-4655-BBE3-82EE72AE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7EBA"/>
                </a:solidFill>
              </a:defRPr>
            </a:pPr>
            <a:r>
              <a:rPr sz="1350" b="1">
                <a:solidFill>
                  <a:srgbClr val="147EBA"/>
                </a:solidFill>
              </a:rPr>
              <a:t>ブラウザ</a:t>
            </a:r>
          </a:p>
        </p:txBody>
      </p:sp>
      <p:sp>
        <p:nvSpPr>
          <p:cNvPr id="6" name="server-region">
            <a:extLst xmlns:a="http://schemas.openxmlformats.org/drawingml/2006/main">
              <a:ext uri="{FF2B5EF4-FFF2-40B4-BE49-F238E27FC236}">
                <a16:creationId xmlns:a16="http://schemas.microsoft.com/office/drawing/2014/main" id="{995952F9-35B9-4026-A9BF-66533F6B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181100"/>
            <a:ext cx="6838950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52F67"/>
            </a:solidFill>
            <a:prstDash val="dash"/>
          </a:ln>
        </p:spPr>
      </p:sp>
      <p:sp>
        <p:nvSpPr>
          <p:cNvPr id="7" name="server-region-label">
            <a:extLst xmlns:a="http://schemas.openxmlformats.org/drawingml/2006/main">
              <a:ext uri="{FF2B5EF4-FFF2-40B4-BE49-F238E27FC236}">
                <a16:creationId xmlns:a16="http://schemas.microsoft.com/office/drawing/2014/main" id="{78B304D7-F47D-4687-9C37-A77DD136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2573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2F67"/>
                </a:solidFill>
              </a:defRPr>
            </a:pPr>
            <a:r>
              <a:rPr sz="1350" b="1">
                <a:solidFill>
                  <a:srgbClr val="D52F67"/>
                </a:solidFill>
              </a:rPr>
              <a:t>Node.js サーバー</a:t>
            </a:r>
          </a:p>
        </p:txBody>
      </p:sp>
      <p:sp>
        <p:nvSpPr>
          <p:cNvPr id="8" name="a-child-capture">
            <a:extLst xmlns:a="http://schemas.openxmlformats.org/drawingml/2006/main">
              <a:ext uri="{FF2B5EF4-FFF2-40B4-BE49-F238E27FC236}">
                <a16:creationId xmlns:a16="http://schemas.microsoft.com/office/drawing/2014/main" id="{4F7F326D-FD0C-495B-91EE-D726BA7F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104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5D7180"/>
            </a:solidFill>
            <a:prstDash val="solid"/>
          </a:ln>
        </p:spPr>
      </p:sp>
      <p:sp>
        <p:nvSpPr>
          <p:cNvPr id="9" name="a-child-capture-head">
            <a:extLst xmlns:a="http://schemas.openxmlformats.org/drawingml/2006/main">
              <a:ext uri="{FF2B5EF4-FFF2-40B4-BE49-F238E27FC236}">
                <a16:creationId xmlns:a16="http://schemas.microsoft.com/office/drawing/2014/main" id="{E8DA4847-F4B6-450F-9FB2-AD460779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38350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7180"/>
          </a:solidFill>
          <a:ln xmlns:a="http://schemas.openxmlformats.org/drawingml/2006/main" w="0">
            <a:solidFill>
              <a:srgbClr val="5D7180"/>
            </a:solidFill>
            <a:prstDash val="solid"/>
          </a:ln>
        </p:spPr>
      </p:sp>
      <p:sp>
        <p:nvSpPr>
          <p:cNvPr id="10" name="a-capture-ui">
            <a:extLst xmlns:a="http://schemas.openxmlformats.org/drawingml/2006/main">
              <a:ext uri="{FF2B5EF4-FFF2-40B4-BE49-F238E27FC236}">
                <a16:creationId xmlns:a16="http://schemas.microsoft.com/office/drawing/2014/main" id="{B10B9EC6-71C0-4329-97E5-68382C18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104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5D7180"/>
            </a:solidFill>
            <a:prstDash val="solid"/>
          </a:ln>
        </p:spPr>
      </p:sp>
      <p:sp>
        <p:nvSpPr>
          <p:cNvPr id="11" name="a-capture-ui-head">
            <a:extLst xmlns:a="http://schemas.openxmlformats.org/drawingml/2006/main">
              <a:ext uri="{FF2B5EF4-FFF2-40B4-BE49-F238E27FC236}">
                <a16:creationId xmlns:a16="http://schemas.microsoft.com/office/drawing/2014/main" id="{A761E389-54D6-47FD-BF27-9AB0D7EA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38350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7180"/>
          </a:solidFill>
          <a:ln xmlns:a="http://schemas.openxmlformats.org/drawingml/2006/main" w="0">
            <a:solidFill>
              <a:srgbClr val="5D7180"/>
            </a:solidFill>
            <a:prstDash val="solid"/>
          </a:ln>
        </p:spPr>
      </p:sp>
      <p:sp>
        <p:nvSpPr>
          <p:cNvPr id="12" name="a-ui-api">
            <a:extLst xmlns:a="http://schemas.openxmlformats.org/drawingml/2006/main">
              <a:ext uri="{FF2B5EF4-FFF2-40B4-BE49-F238E27FC236}">
                <a16:creationId xmlns:a16="http://schemas.microsoft.com/office/drawing/2014/main" id="{3E2DB31D-8164-47C8-A309-984F20E5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5D7180"/>
            </a:solidFill>
            <a:prstDash val="solid"/>
          </a:ln>
        </p:spPr>
      </p:sp>
      <p:sp>
        <p:nvSpPr>
          <p:cNvPr id="13" name="a-ui-api-head">
            <a:extLst xmlns:a="http://schemas.openxmlformats.org/drawingml/2006/main">
              <a:ext uri="{FF2B5EF4-FFF2-40B4-BE49-F238E27FC236}">
                <a16:creationId xmlns:a16="http://schemas.microsoft.com/office/drawing/2014/main" id="{DB649655-F9E0-4736-AFFF-A4A7C8F0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038350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7180"/>
          </a:solidFill>
          <a:ln xmlns:a="http://schemas.openxmlformats.org/drawingml/2006/main" w="0">
            <a:solidFill>
              <a:srgbClr val="5D7180"/>
            </a:solidFill>
            <a:prstDash val="solid"/>
          </a:ln>
        </p:spPr>
      </p:sp>
      <p:sp>
        <p:nvSpPr>
          <p:cNvPr id="14" name="a-api-router">
            <a:extLst xmlns:a="http://schemas.openxmlformats.org/drawingml/2006/main">
              <a:ext uri="{FF2B5EF4-FFF2-40B4-BE49-F238E27FC236}">
                <a16:creationId xmlns:a16="http://schemas.microsoft.com/office/drawing/2014/main" id="{52F35A86-BAC0-4420-89CC-30644624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5D7180"/>
            </a:solidFill>
            <a:prstDash val="solid"/>
          </a:ln>
        </p:spPr>
      </p:sp>
      <p:sp>
        <p:nvSpPr>
          <p:cNvPr id="15" name="a-api-router-head">
            <a:extLst xmlns:a="http://schemas.openxmlformats.org/drawingml/2006/main">
              <a:ext uri="{FF2B5EF4-FFF2-40B4-BE49-F238E27FC236}">
                <a16:creationId xmlns:a16="http://schemas.microsoft.com/office/drawing/2014/main" id="{316D4037-1379-4801-B842-CE128FE6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7180"/>
          </a:solidFill>
          <a:ln xmlns:a="http://schemas.openxmlformats.org/drawingml/2006/main" w="0">
            <a:solidFill>
              <a:srgbClr val="5D7180"/>
            </a:solidFill>
            <a:prstDash val="solid"/>
          </a:ln>
        </p:spPr>
      </p:sp>
      <p:sp>
        <p:nvSpPr>
          <p:cNvPr id="16" name="a-router-branches">
            <a:extLst xmlns:a="http://schemas.openxmlformats.org/drawingml/2006/main">
              <a:ext uri="{FF2B5EF4-FFF2-40B4-BE49-F238E27FC236}">
                <a16:creationId xmlns:a16="http://schemas.microsoft.com/office/drawing/2014/main" id="{397B3ECD-D439-4678-B686-D2B1F214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0032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52F67"/>
            </a:solidFill>
            <a:prstDash val="solid"/>
          </a:ln>
        </p:spPr>
      </p:sp>
      <p:sp>
        <p:nvSpPr>
          <p:cNvPr id="17" name="a-router-branches-head">
            <a:extLst xmlns:a="http://schemas.openxmlformats.org/drawingml/2006/main">
              <a:ext uri="{FF2B5EF4-FFF2-40B4-BE49-F238E27FC236}">
                <a16:creationId xmlns:a16="http://schemas.microsoft.com/office/drawing/2014/main" id="{C687AFC2-D1CC-401D-A2C6-554424D4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5275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0">
            <a:solidFill>
              <a:srgbClr val="D52F67"/>
            </a:solidFill>
            <a:prstDash val="solid"/>
          </a:ln>
        </p:spPr>
      </p:sp>
      <p:sp>
        <p:nvSpPr>
          <p:cNvPr id="18" name="a-branch-output">
            <a:extLst xmlns:a="http://schemas.openxmlformats.org/drawingml/2006/main">
              <a:ext uri="{FF2B5EF4-FFF2-40B4-BE49-F238E27FC236}">
                <a16:creationId xmlns:a16="http://schemas.microsoft.com/office/drawing/2014/main" id="{B5A7908B-9D2E-4160-9BCA-F522C859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52F67"/>
            </a:solidFill>
            <a:prstDash val="solid"/>
          </a:ln>
        </p:spPr>
      </p:sp>
      <p:sp>
        <p:nvSpPr>
          <p:cNvPr id="19" name="a-branch-output-head">
            <a:extLst xmlns:a="http://schemas.openxmlformats.org/drawingml/2006/main">
              <a:ext uri="{FF2B5EF4-FFF2-40B4-BE49-F238E27FC236}">
                <a16:creationId xmlns:a16="http://schemas.microsoft.com/office/drawing/2014/main" id="{109FB620-CC25-4E60-91A7-083A3F0E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38625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0">
            <a:solidFill>
              <a:srgbClr val="D52F67"/>
            </a:solidFill>
            <a:prstDash val="solid"/>
          </a:ln>
        </p:spPr>
      </p:sp>
      <p:sp>
        <p:nvSpPr>
          <p:cNvPr id="20" name="a-output-browser">
            <a:extLst xmlns:a="http://schemas.openxmlformats.org/drawingml/2006/main">
              <a:ext uri="{FF2B5EF4-FFF2-40B4-BE49-F238E27FC236}">
                <a16:creationId xmlns:a16="http://schemas.microsoft.com/office/drawing/2014/main" id="{3FFE3AA8-3538-4E4E-A9F0-323DA96B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86325"/>
            <a:ext cx="2219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147EBA"/>
            </a:solidFill>
            <a:prstDash val="solid"/>
          </a:ln>
        </p:spPr>
      </p:sp>
      <p:sp>
        <p:nvSpPr>
          <p:cNvPr id="21" name="a-output-browser-head">
            <a:extLst xmlns:a="http://schemas.openxmlformats.org/drawingml/2006/main">
              <a:ext uri="{FF2B5EF4-FFF2-40B4-BE49-F238E27FC236}">
                <a16:creationId xmlns:a16="http://schemas.microsoft.com/office/drawing/2014/main" id="{4E9544A6-C686-45D1-9FEA-FA56892B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291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0">
            <a:solidFill>
              <a:srgbClr val="147EBA"/>
            </a:solidFill>
            <a:prstDash val="solid"/>
          </a:ln>
        </p:spPr>
      </p:sp>
      <p:sp>
        <p:nvSpPr>
          <p:cNvPr id="22" name="child">
            <a:extLst xmlns:a="http://schemas.openxmlformats.org/drawingml/2006/main">
              <a:ext uri="{FF2B5EF4-FFF2-40B4-BE49-F238E27FC236}">
                <a16:creationId xmlns:a16="http://schemas.microsoft.com/office/drawing/2014/main" id="{7BF2DE10-47CE-4694-8897-81724C5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1047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2E5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23" name="child-accent">
            <a:extLst xmlns:a="http://schemas.openxmlformats.org/drawingml/2006/main">
              <a:ext uri="{FF2B5EF4-FFF2-40B4-BE49-F238E27FC236}">
                <a16:creationId xmlns:a16="http://schemas.microsoft.com/office/drawing/2014/main" id="{779B6871-424F-4659-9971-22414FA6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95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24" name="child-label">
            <a:extLst xmlns:a="http://schemas.openxmlformats.org/drawingml/2006/main">
              <a:ext uri="{FF2B5EF4-FFF2-40B4-BE49-F238E27FC236}">
                <a16:creationId xmlns:a16="http://schemas.microsoft.com/office/drawing/2014/main" id="{BFEB9663-5481-4873-87E0-139D8502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子ども</a:t>
            </a:r>
          </a:p>
        </p:txBody>
      </p:sp>
      <p:sp>
        <p:nvSpPr>
          <p:cNvPr id="25" name="child-detail">
            <a:extLst xmlns:a="http://schemas.openxmlformats.org/drawingml/2006/main">
              <a:ext uri="{FF2B5EF4-FFF2-40B4-BE49-F238E27FC236}">
                <a16:creationId xmlns:a16="http://schemas.microsoft.com/office/drawing/2014/main" id="{BA711549-C99A-456B-ACD4-53BBA621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85975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音声</a:t>
            </a:r>
          </a:p>
        </p:txBody>
      </p:sp>
      <p:sp>
        <p:nvSpPr>
          <p:cNvPr id="26" name="capture">
            <a:extLst xmlns:a="http://schemas.openxmlformats.org/drawingml/2006/main">
              <a:ext uri="{FF2B5EF4-FFF2-40B4-BE49-F238E27FC236}">
                <a16:creationId xmlns:a16="http://schemas.microsoft.com/office/drawing/2014/main" id="{7652A7CB-99AF-4C63-A2F6-4AB50494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685925"/>
            <a:ext cx="1333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27" name="capture-accent">
            <a:extLst xmlns:a="http://schemas.openxmlformats.org/drawingml/2006/main">
              <a:ext uri="{FF2B5EF4-FFF2-40B4-BE49-F238E27FC236}">
                <a16:creationId xmlns:a16="http://schemas.microsoft.com/office/drawing/2014/main" id="{CBAE953E-C85F-46AC-95C9-F3AEA721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685925"/>
            <a:ext cx="95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28" name="capture-label">
            <a:extLst xmlns:a="http://schemas.openxmlformats.org/drawingml/2006/main">
              <a:ext uri="{FF2B5EF4-FFF2-40B4-BE49-F238E27FC236}">
                <a16:creationId xmlns:a16="http://schemas.microsoft.com/office/drawing/2014/main" id="{221DDE3A-C95A-4FBA-BB5C-D1E9DEE8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762125"/>
            <a:ext cx="108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録音・STT</a:t>
            </a:r>
          </a:p>
        </p:txBody>
      </p:sp>
      <p:sp>
        <p:nvSpPr>
          <p:cNvPr id="29" name="capture-detail">
            <a:extLst xmlns:a="http://schemas.openxmlformats.org/drawingml/2006/main">
              <a:ext uri="{FF2B5EF4-FFF2-40B4-BE49-F238E27FC236}">
                <a16:creationId xmlns:a16="http://schemas.microsoft.com/office/drawing/2014/main" id="{3C133E0B-391E-41A9-BA89-0E16FFAB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85975"/>
            <a:ext cx="1085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録音 → STT API</a:t>
            </a:r>
          </a:p>
        </p:txBody>
      </p:sp>
      <p:sp>
        <p:nvSpPr>
          <p:cNvPr id="30" name="webui">
            <a:extLst xmlns:a="http://schemas.openxmlformats.org/drawingml/2006/main">
              <a:ext uri="{FF2B5EF4-FFF2-40B4-BE49-F238E27FC236}">
                <a16:creationId xmlns:a16="http://schemas.microsoft.com/office/drawing/2014/main" id="{F767B96F-919D-46B1-9372-8DF4BCA7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85925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31" name="webui-accent">
            <a:extLst xmlns:a="http://schemas.openxmlformats.org/drawingml/2006/main">
              <a:ext uri="{FF2B5EF4-FFF2-40B4-BE49-F238E27FC236}">
                <a16:creationId xmlns:a16="http://schemas.microsoft.com/office/drawing/2014/main" id="{A4FCCB5D-987D-489D-87B5-B739C98D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85925"/>
            <a:ext cx="95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32" name="webui-label">
            <a:extLst xmlns:a="http://schemas.openxmlformats.org/drawingml/2006/main">
              <a:ext uri="{FF2B5EF4-FFF2-40B4-BE49-F238E27FC236}">
                <a16:creationId xmlns:a16="http://schemas.microsoft.com/office/drawing/2014/main" id="{CB6F681D-126D-4B8D-86C4-42769263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621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Web UI</a:t>
            </a:r>
          </a:p>
        </p:txBody>
      </p:sp>
      <p:sp>
        <p:nvSpPr>
          <p:cNvPr id="33" name="webui-detail">
            <a:extLst xmlns:a="http://schemas.openxmlformats.org/drawingml/2006/main">
              <a:ext uri="{FF2B5EF4-FFF2-40B4-BE49-F238E27FC236}">
                <a16:creationId xmlns:a16="http://schemas.microsoft.com/office/drawing/2014/main" id="{10DD8C25-DC5D-4DD8-A63B-73E2FC00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85975"/>
            <a:ext cx="97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認識文確認</a:t>
            </a:r>
          </a:p>
        </p:txBody>
      </p:sp>
      <p:sp>
        <p:nvSpPr>
          <p:cNvPr id="34" name="nodeapi">
            <a:extLst xmlns:a="http://schemas.openxmlformats.org/drawingml/2006/main">
              <a:ext uri="{FF2B5EF4-FFF2-40B4-BE49-F238E27FC236}">
                <a16:creationId xmlns:a16="http://schemas.microsoft.com/office/drawing/2014/main" id="{772ED06E-E196-4386-8EFA-27B4902F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685925"/>
            <a:ext cx="1333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35" name="nodeapi-accent">
            <a:extLst xmlns:a="http://schemas.openxmlformats.org/drawingml/2006/main">
              <a:ext uri="{FF2B5EF4-FFF2-40B4-BE49-F238E27FC236}">
                <a16:creationId xmlns:a16="http://schemas.microsoft.com/office/drawing/2014/main" id="{BE96EF0C-7795-459D-B31D-1A8EFA05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685925"/>
            <a:ext cx="95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36" name="nodeapi-label">
            <a:extLst xmlns:a="http://schemas.openxmlformats.org/drawingml/2006/main">
              <a:ext uri="{FF2B5EF4-FFF2-40B4-BE49-F238E27FC236}">
                <a16:creationId xmlns:a16="http://schemas.microsoft.com/office/drawing/2014/main" id="{E8AAE66E-9012-4FFA-9F3F-8AB5A4A7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762125"/>
            <a:ext cx="1085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B3A"/>
                </a:solidFill>
              </a:defRPr>
            </a:pPr>
            <a:r>
              <a:rPr sz="1500" b="1">
                <a:solidFill>
                  <a:srgbClr val="172B3A"/>
                </a:solidFill>
              </a:rPr>
              <a:t>Node API</a:t>
            </a:r>
          </a:p>
          <a:p xmlns:a="http://schemas.openxmlformats.org/drawingml/2006/main">
            <a:pPr algn="ctr">
              <a:defRPr sz="1500" b="1">
                <a:solidFill>
                  <a:srgbClr val="172B3A"/>
                </a:solidFill>
              </a:defRPr>
            </a:pPr>
            <a:r>
              <a:rPr sz="1500" b="1">
                <a:solidFill>
                  <a:srgbClr val="172B3A"/>
                </a:solidFill>
              </a:rPr>
              <a:t>STT・返答</a:t>
            </a:r>
          </a:p>
        </p:txBody>
      </p:sp>
      <p:sp>
        <p:nvSpPr>
          <p:cNvPr id="37" name="router">
            <a:extLst xmlns:a="http://schemas.openxmlformats.org/drawingml/2006/main">
              <a:ext uri="{FF2B5EF4-FFF2-40B4-BE49-F238E27FC236}">
                <a16:creationId xmlns:a16="http://schemas.microsoft.com/office/drawing/2014/main" id="{DC9A4A5E-919E-44DC-9E3E-EE4741C0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85925"/>
            <a:ext cx="22955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38" name="router-accent">
            <a:extLst xmlns:a="http://schemas.openxmlformats.org/drawingml/2006/main">
              <a:ext uri="{FF2B5EF4-FFF2-40B4-BE49-F238E27FC236}">
                <a16:creationId xmlns:a16="http://schemas.microsoft.com/office/drawing/2014/main" id="{3034979B-D3D1-4D27-9EB5-F588E4AA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85925"/>
            <a:ext cx="95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39" name="router-label">
            <a:extLst xmlns:a="http://schemas.openxmlformats.org/drawingml/2006/main">
              <a:ext uri="{FF2B5EF4-FFF2-40B4-BE49-F238E27FC236}">
                <a16:creationId xmlns:a16="http://schemas.microsoft.com/office/drawing/2014/main" id="{C7055A3E-B0C8-4289-A920-A2E8D01B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OrcaRouter</a:t>
            </a:r>
          </a:p>
        </p:txBody>
      </p:sp>
      <p:sp>
        <p:nvSpPr>
          <p:cNvPr id="40" name="router-detail">
            <a:extLst xmlns:a="http://schemas.openxmlformats.org/drawingml/2006/main">
              <a:ext uri="{FF2B5EF4-FFF2-40B4-BE49-F238E27FC236}">
                <a16:creationId xmlns:a16="http://schemas.microsoft.com/office/drawing/2014/main" id="{767B053E-FCF3-4A37-A3F8-B5FC9FA6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85975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構造化して監督</a:t>
            </a:r>
          </a:p>
        </p:txBody>
      </p:sp>
      <p:sp>
        <p:nvSpPr>
          <p:cNvPr id="41" name="profile-store">
            <a:extLst xmlns:a="http://schemas.openxmlformats.org/drawingml/2006/main">
              <a:ext uri="{FF2B5EF4-FFF2-40B4-BE49-F238E27FC236}">
                <a16:creationId xmlns:a16="http://schemas.microsoft.com/office/drawing/2014/main" id="{3574BE42-7C90-4775-8CA5-00A4B6B3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38300"/>
            <a:ext cx="2428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E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42" name="profile-store-accent">
            <a:extLst xmlns:a="http://schemas.openxmlformats.org/drawingml/2006/main">
              <a:ext uri="{FF2B5EF4-FFF2-40B4-BE49-F238E27FC236}">
                <a16:creationId xmlns:a16="http://schemas.microsoft.com/office/drawing/2014/main" id="{833480F6-E9A9-452A-B191-BAA808CD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38300"/>
            <a:ext cx="9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853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43" name="profile-store-label">
            <a:extLst xmlns:a="http://schemas.openxmlformats.org/drawingml/2006/main">
              <a:ext uri="{FF2B5EF4-FFF2-40B4-BE49-F238E27FC236}">
                <a16:creationId xmlns:a16="http://schemas.microsoft.com/office/drawing/2014/main" id="{1ED029A8-3943-40E1-BBA2-6CACFE66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714500"/>
            <a:ext cx="2181225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保護者プロフィール</a:t>
            </a:r>
          </a:p>
        </p:txBody>
      </p:sp>
      <p:sp>
        <p:nvSpPr>
          <p:cNvPr id="44" name="profile-store-detail">
            <a:extLst xmlns:a="http://schemas.openxmlformats.org/drawingml/2006/main">
              <a:ext uri="{FF2B5EF4-FFF2-40B4-BE49-F238E27FC236}">
                <a16:creationId xmlns:a16="http://schemas.microsoft.com/office/drawing/2014/main" id="{2E2098F8-7725-42F7-ACEE-7735EEE0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958340"/>
            <a:ext cx="218122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写真・声サンプルを暗号化保存</a:t>
            </a:r>
          </a:p>
        </p:txBody>
      </p:sp>
      <p:sp>
        <p:nvSpPr>
          <p:cNvPr id="45" name="history-store">
            <a:extLst xmlns:a="http://schemas.openxmlformats.org/drawingml/2006/main">
              <a:ext uri="{FF2B5EF4-FFF2-40B4-BE49-F238E27FC236}">
                <a16:creationId xmlns:a16="http://schemas.microsoft.com/office/drawing/2014/main" id="{D21DDD67-A22C-41CA-9BAA-ADF2690C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86000"/>
            <a:ext cx="2428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FEEFF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46" name="history-store-accent">
            <a:extLst xmlns:a="http://schemas.openxmlformats.org/drawingml/2006/main">
              <a:ext uri="{FF2B5EF4-FFF2-40B4-BE49-F238E27FC236}">
                <a16:creationId xmlns:a16="http://schemas.microsoft.com/office/drawing/2014/main" id="{4AC092A2-0D39-4B58-BFBF-401283C1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86000"/>
            <a:ext cx="95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54C9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47" name="history-store-label">
            <a:extLst xmlns:a="http://schemas.openxmlformats.org/drawingml/2006/main">
              <a:ext uri="{FF2B5EF4-FFF2-40B4-BE49-F238E27FC236}">
                <a16:creationId xmlns:a16="http://schemas.microsoft.com/office/drawing/2014/main" id="{5D09A2A2-8FAD-401D-95DC-F25DF9E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333625"/>
            <a:ext cx="21812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会話ID / 履歴</a:t>
            </a:r>
          </a:p>
        </p:txBody>
      </p:sp>
      <p:sp>
        <p:nvSpPr>
          <p:cNvPr id="48" name="history-store-detail">
            <a:extLst xmlns:a="http://schemas.openxmlformats.org/drawingml/2006/main">
              <a:ext uri="{FF2B5EF4-FFF2-40B4-BE49-F238E27FC236}">
                <a16:creationId xmlns:a16="http://schemas.microsoft.com/office/drawing/2014/main" id="{38EEE2C9-2791-4453-955B-6B2CC21C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562225"/>
            <a:ext cx="2181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conversationId /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直近6往復（30分）</a:t>
            </a:r>
          </a:p>
        </p:txBody>
      </p:sp>
      <p:sp>
        <p:nvSpPr>
          <p:cNvPr id="49" name="decision-region">
            <a:extLst xmlns:a="http://schemas.openxmlformats.org/drawingml/2006/main">
              <a:ext uri="{FF2B5EF4-FFF2-40B4-BE49-F238E27FC236}">
                <a16:creationId xmlns:a16="http://schemas.microsoft.com/office/drawing/2014/main" id="{22231807-9ED6-434B-8BFD-05EF94D8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048000"/>
            <a:ext cx="5734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52F67"/>
            </a:solidFill>
            <a:prstDash val="dash"/>
          </a:ln>
        </p:spPr>
      </p:sp>
      <p:sp>
        <p:nvSpPr>
          <p:cNvPr id="50" name="decision-region-label">
            <a:extLst xmlns:a="http://schemas.openxmlformats.org/drawingml/2006/main">
              <a:ext uri="{FF2B5EF4-FFF2-40B4-BE49-F238E27FC236}">
                <a16:creationId xmlns:a16="http://schemas.microsoft.com/office/drawing/2014/main" id="{6A43A08D-8B84-41F6-9BD3-E950B6CB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1242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2F67"/>
                </a:solidFill>
              </a:defRPr>
            </a:pPr>
            <a:r>
              <a:rPr sz="1350" b="1">
                <a:solidFill>
                  <a:srgbClr val="D52F67"/>
                </a:solidFill>
              </a:rPr>
              <a:t>3つの判定</a:t>
            </a:r>
          </a:p>
        </p:txBody>
      </p:sp>
      <p:sp>
        <p:nvSpPr>
          <p:cNvPr id="51" name="normal">
            <a:extLst xmlns:a="http://schemas.openxmlformats.org/drawingml/2006/main">
              <a:ext uri="{FF2B5EF4-FFF2-40B4-BE49-F238E27FC236}">
                <a16:creationId xmlns:a16="http://schemas.microsoft.com/office/drawing/2014/main" id="{9B5C6CEB-BED1-406B-B61A-5A2A076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52800"/>
            <a:ext cx="1619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7EE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52" name="normal-accent">
            <a:extLst xmlns:a="http://schemas.openxmlformats.org/drawingml/2006/main">
              <a:ext uri="{FF2B5EF4-FFF2-40B4-BE49-F238E27FC236}">
                <a16:creationId xmlns:a16="http://schemas.microsoft.com/office/drawing/2014/main" id="{5D46918F-7618-4884-8419-39EDF2F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5280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853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53" name="normal-label">
            <a:extLst xmlns:a="http://schemas.openxmlformats.org/drawingml/2006/main">
              <a:ext uri="{FF2B5EF4-FFF2-40B4-BE49-F238E27FC236}">
                <a16:creationId xmlns:a16="http://schemas.microsoft.com/office/drawing/2014/main" id="{5FA9A457-F903-4B62-96A0-3C364FD7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B3A"/>
                </a:solidFill>
              </a:defRPr>
            </a:pPr>
            <a:r>
              <a:rPr sz="1500" b="1">
                <a:solidFill>
                  <a:srgbClr val="172B3A"/>
                </a:solidFill>
              </a:rPr>
              <a:t>通常 / 短い返信</a:t>
            </a:r>
          </a:p>
        </p:txBody>
      </p:sp>
      <p:sp>
        <p:nvSpPr>
          <p:cNvPr id="54" name="care">
            <a:extLst xmlns:a="http://schemas.openxmlformats.org/drawingml/2006/main">
              <a:ext uri="{FF2B5EF4-FFF2-40B4-BE49-F238E27FC236}">
                <a16:creationId xmlns:a16="http://schemas.microsoft.com/office/drawing/2014/main" id="{B06E77BD-734C-4CBC-8FBC-B39244FA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17907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2E5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55" name="care-accent">
            <a:extLst xmlns:a="http://schemas.openxmlformats.org/drawingml/2006/main">
              <a:ext uri="{FF2B5EF4-FFF2-40B4-BE49-F238E27FC236}">
                <a16:creationId xmlns:a16="http://schemas.microsoft.com/office/drawing/2014/main" id="{AC75E92E-DA96-4E0F-B486-3AF9CF37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56" name="care-label">
            <a:extLst xmlns:a="http://schemas.openxmlformats.org/drawingml/2006/main">
              <a:ext uri="{FF2B5EF4-FFF2-40B4-BE49-F238E27FC236}">
                <a16:creationId xmlns:a16="http://schemas.microsoft.com/office/drawing/2014/main" id="{0BFA97B5-57F5-4734-902D-45A428F4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290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B3A"/>
                </a:solidFill>
              </a:defRPr>
            </a:pPr>
            <a:r>
              <a:rPr sz="1500" b="1">
                <a:solidFill>
                  <a:srgbClr val="172B3A"/>
                </a:solidFill>
              </a:rPr>
              <a:t>感情ケア / comfort等</a:t>
            </a:r>
          </a:p>
        </p:txBody>
      </p:sp>
      <p:sp>
        <p:nvSpPr>
          <p:cNvPr id="57" name="safety">
            <a:extLst xmlns:a="http://schemas.openxmlformats.org/drawingml/2006/main">
              <a:ext uri="{FF2B5EF4-FFF2-40B4-BE49-F238E27FC236}">
                <a16:creationId xmlns:a16="http://schemas.microsoft.com/office/drawing/2014/main" id="{8FE1B17B-1F07-4AA2-A8EA-98F71CDE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6954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58" name="safety-accent">
            <a:extLst xmlns:a="http://schemas.openxmlformats.org/drawingml/2006/main">
              <a:ext uri="{FF2B5EF4-FFF2-40B4-BE49-F238E27FC236}">
                <a16:creationId xmlns:a16="http://schemas.microsoft.com/office/drawing/2014/main" id="{E4E0D534-FDB8-4DF3-B813-B56F77EE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364F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59" name="safety-label">
            <a:extLst xmlns:a="http://schemas.openxmlformats.org/drawingml/2006/main">
              <a:ext uri="{FF2B5EF4-FFF2-40B4-BE49-F238E27FC236}">
                <a16:creationId xmlns:a16="http://schemas.microsoft.com/office/drawing/2014/main" id="{F6059881-07CF-4829-B3E9-F4045A4F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29000"/>
            <a:ext cx="144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B3A"/>
                </a:solidFill>
              </a:defRPr>
            </a:pPr>
            <a:r>
              <a:rPr sz="1500" b="1">
                <a:solidFill>
                  <a:srgbClr val="172B3A"/>
                </a:solidFill>
              </a:rPr>
              <a:t>安全 / 大人へ</a:t>
            </a:r>
          </a:p>
        </p:txBody>
      </p:sp>
      <p:sp>
        <p:nvSpPr>
          <p:cNvPr id="60" name="bundle-region">
            <a:extLst xmlns:a="http://schemas.openxmlformats.org/drawingml/2006/main">
              <a:ext uri="{FF2B5EF4-FFF2-40B4-BE49-F238E27FC236}">
                <a16:creationId xmlns:a16="http://schemas.microsoft.com/office/drawing/2014/main" id="{E2039E96-A726-4CFF-BC6D-B2D17BE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333875"/>
            <a:ext cx="59150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7EBA"/>
            </a:solidFill>
            <a:prstDash val="dash"/>
          </a:ln>
        </p:spPr>
      </p:sp>
      <p:sp>
        <p:nvSpPr>
          <p:cNvPr id="61" name="bundle-region-label">
            <a:extLst xmlns:a="http://schemas.openxmlformats.org/drawingml/2006/main">
              <a:ext uri="{FF2B5EF4-FFF2-40B4-BE49-F238E27FC236}">
                <a16:creationId xmlns:a16="http://schemas.microsoft.com/office/drawing/2014/main" id="{D1F4625F-63C4-48AA-BB93-01FFBF71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100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7EBA"/>
                </a:solidFill>
              </a:defRPr>
            </a:pPr>
            <a:r>
              <a:rPr sz="1350" b="1">
                <a:solidFill>
                  <a:srgbClr val="147EBA"/>
                </a:solidFill>
              </a:rPr>
              <a:t>通常時の返答バンドル</a:t>
            </a:r>
          </a:p>
        </p:txBody>
      </p:sp>
      <p:sp>
        <p:nvSpPr>
          <p:cNvPr id="62" name="replytext">
            <a:extLst xmlns:a="http://schemas.openxmlformats.org/drawingml/2006/main">
              <a:ext uri="{FF2B5EF4-FFF2-40B4-BE49-F238E27FC236}">
                <a16:creationId xmlns:a16="http://schemas.microsoft.com/office/drawing/2014/main" id="{8DAD7321-A752-421E-B17C-F3108807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610100"/>
            <a:ext cx="17240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63" name="replytext-accent">
            <a:extLst xmlns:a="http://schemas.openxmlformats.org/drawingml/2006/main">
              <a:ext uri="{FF2B5EF4-FFF2-40B4-BE49-F238E27FC236}">
                <a16:creationId xmlns:a16="http://schemas.microsoft.com/office/drawing/2014/main" id="{E2C75EC3-22A4-44B8-8C68-966AC57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61010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64" name="replytext-label">
            <a:extLst xmlns:a="http://schemas.openxmlformats.org/drawingml/2006/main">
              <a:ext uri="{FF2B5EF4-FFF2-40B4-BE49-F238E27FC236}">
                <a16:creationId xmlns:a16="http://schemas.microsoft.com/office/drawing/2014/main" id="{A0A4B172-4D1A-4579-BDFC-0F1D40B6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1476375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動的テキスト</a:t>
            </a:r>
          </a:p>
        </p:txBody>
      </p:sp>
      <p:sp>
        <p:nvSpPr>
          <p:cNvPr id="65" name="replytext-detail">
            <a:extLst xmlns:a="http://schemas.openxmlformats.org/drawingml/2006/main">
              <a:ext uri="{FF2B5EF4-FFF2-40B4-BE49-F238E27FC236}">
                <a16:creationId xmlns:a16="http://schemas.microsoft.com/office/drawing/2014/main" id="{0C7A0F6F-4E9E-45DB-AD59-E12E7C6D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45380"/>
            <a:ext cx="1476375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subtitle / replyText</a:t>
            </a:r>
          </a:p>
        </p:txBody>
      </p:sp>
      <p:sp>
        <p:nvSpPr>
          <p:cNvPr id="66" name="photo">
            <a:extLst xmlns:a="http://schemas.openxmlformats.org/drawingml/2006/main">
              <a:ext uri="{FF2B5EF4-FFF2-40B4-BE49-F238E27FC236}">
                <a16:creationId xmlns:a16="http://schemas.microsoft.com/office/drawing/2014/main" id="{56F525F8-30D2-4089-831A-578BE79E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610100"/>
            <a:ext cx="1809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F7EE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67" name="photo-accent">
            <a:extLst xmlns:a="http://schemas.openxmlformats.org/drawingml/2006/main">
              <a:ext uri="{FF2B5EF4-FFF2-40B4-BE49-F238E27FC236}">
                <a16:creationId xmlns:a16="http://schemas.microsoft.com/office/drawing/2014/main" id="{DE924CD8-DC54-49F5-8406-C9228F02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61010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853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68" name="photo-label">
            <a:extLst xmlns:a="http://schemas.openxmlformats.org/drawingml/2006/main">
              <a:ext uri="{FF2B5EF4-FFF2-40B4-BE49-F238E27FC236}">
                <a16:creationId xmlns:a16="http://schemas.microsoft.com/office/drawing/2014/main" id="{7A44944C-1E0F-44CA-897A-67FB7BFC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686300"/>
            <a:ext cx="1562100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登録親写真</a:t>
            </a:r>
          </a:p>
        </p:txBody>
      </p:sp>
      <p:sp>
        <p:nvSpPr>
          <p:cNvPr id="69" name="photo-detail">
            <a:extLst xmlns:a="http://schemas.openxmlformats.org/drawingml/2006/main">
              <a:ext uri="{FF2B5EF4-FFF2-40B4-BE49-F238E27FC236}">
                <a16:creationId xmlns:a16="http://schemas.microsoft.com/office/drawing/2014/main" id="{F813B5AB-2299-4B18-AF9A-2EA58D52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945380"/>
            <a:ext cx="1562100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音声中に簡易アニメ</a:t>
            </a:r>
          </a:p>
        </p:txBody>
      </p:sp>
      <p:sp>
        <p:nvSpPr>
          <p:cNvPr id="70" name="tts">
            <a:extLst xmlns:a="http://schemas.openxmlformats.org/drawingml/2006/main">
              <a:ext uri="{FF2B5EF4-FFF2-40B4-BE49-F238E27FC236}">
                <a16:creationId xmlns:a16="http://schemas.microsoft.com/office/drawing/2014/main" id="{3FFA7D53-599D-4F20-A5B4-4866990E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10100"/>
            <a:ext cx="1771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2E5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71" name="tts-accent">
            <a:extLst xmlns:a="http://schemas.openxmlformats.org/drawingml/2006/main">
              <a:ext uri="{FF2B5EF4-FFF2-40B4-BE49-F238E27FC236}">
                <a16:creationId xmlns:a16="http://schemas.microsoft.com/office/drawing/2014/main" id="{C56CB28F-5C9B-4760-A906-28A9F536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10100"/>
            <a:ext cx="95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72" name="tts-label">
            <a:extLst xmlns:a="http://schemas.openxmlformats.org/drawingml/2006/main">
              <a:ext uri="{FF2B5EF4-FFF2-40B4-BE49-F238E27FC236}">
                <a16:creationId xmlns:a16="http://schemas.microsoft.com/office/drawing/2014/main" id="{FACB22DA-C6DA-49A0-A09E-813EB119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6767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ブラウザTTS</a:t>
            </a:r>
          </a:p>
        </p:txBody>
      </p:sp>
      <p:sp>
        <p:nvSpPr>
          <p:cNvPr id="73" name="tts-detail">
            <a:extLst xmlns:a="http://schemas.openxmlformats.org/drawingml/2006/main">
              <a:ext uri="{FF2B5EF4-FFF2-40B4-BE49-F238E27FC236}">
                <a16:creationId xmlns:a16="http://schemas.microsoft.com/office/drawing/2014/main" id="{6C1D070F-7378-44D3-BF48-46E27F9E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924425"/>
            <a:ext cx="1524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動的読み上げ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音声URL再生</a:t>
            </a:r>
          </a:p>
        </p:txBody>
      </p:sp>
      <p:sp>
        <p:nvSpPr>
          <p:cNvPr id="74" name="present">
            <a:extLst xmlns:a="http://schemas.openxmlformats.org/drawingml/2006/main">
              <a:ext uri="{FF2B5EF4-FFF2-40B4-BE49-F238E27FC236}">
                <a16:creationId xmlns:a16="http://schemas.microsoft.com/office/drawing/2014/main" id="{CBB0D31D-9713-4AFC-B8BA-118F96CD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76750"/>
            <a:ext cx="19145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75" name="present-accent">
            <a:extLst xmlns:a="http://schemas.openxmlformats.org/drawingml/2006/main">
              <a:ext uri="{FF2B5EF4-FFF2-40B4-BE49-F238E27FC236}">
                <a16:creationId xmlns:a16="http://schemas.microsoft.com/office/drawing/2014/main" id="{F09BCB36-3756-41AB-B5E7-1FF69C9C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76750"/>
            <a:ext cx="95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76" name="present-label">
            <a:extLst xmlns:a="http://schemas.openxmlformats.org/drawingml/2006/main">
              <a:ext uri="{FF2B5EF4-FFF2-40B4-BE49-F238E27FC236}">
                <a16:creationId xmlns:a16="http://schemas.microsoft.com/office/drawing/2014/main" id="{184DC380-2785-4EBB-83BC-580E698D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552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3つを同時提示</a:t>
            </a:r>
          </a:p>
        </p:txBody>
      </p:sp>
      <p:sp>
        <p:nvSpPr>
          <p:cNvPr id="77" name="present-detail">
            <a:extLst xmlns:a="http://schemas.openxmlformats.org/drawingml/2006/main">
              <a:ext uri="{FF2B5EF4-FFF2-40B4-BE49-F238E27FC236}">
                <a16:creationId xmlns:a16="http://schemas.microsoft.com/office/drawing/2014/main" id="{3A5C5DE2-FE35-455A-9BC3-6D83F962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76800"/>
            <a:ext cx="1666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字幕 ＋ 写真 ＋ 音声</a:t>
            </a:r>
          </a:p>
        </p:txBody>
      </p:sp>
      <p:sp>
        <p:nvSpPr>
          <p:cNvPr id="78" name="simultaneous-note">
            <a:extLst xmlns:a="http://schemas.openxmlformats.org/drawingml/2006/main">
              <a:ext uri="{FF2B5EF4-FFF2-40B4-BE49-F238E27FC236}">
                <a16:creationId xmlns:a16="http://schemas.microsoft.com/office/drawing/2014/main" id="{D031EA73-75F0-49EE-8D3A-64D5E41C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3857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364F"/>
                </a:solidFill>
              </a:defRPr>
            </a:pPr>
            <a:r>
              <a:rPr sz="1200" b="1">
                <a:solidFill>
                  <a:srgbClr val="C7364F"/>
                </a:solidFill>
              </a:rPr>
              <a:t>安全判定では親らしい写真・音声を出さず、大人への案内に切り替え</a:t>
            </a:r>
          </a:p>
        </p:txBody>
      </p:sp>
      <p:sp>
        <p:nvSpPr>
          <p:cNvPr id="79" name="footer1">
            <a:extLst xmlns:a="http://schemas.openxmlformats.org/drawingml/2006/main">
              <a:ext uri="{FF2B5EF4-FFF2-40B4-BE49-F238E27FC236}">
                <a16:creationId xmlns:a16="http://schemas.microsoft.com/office/drawing/2014/main" id="{44639AAC-018A-4C01-8668-BBBE5C8C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2293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7180"/>
                </a:solidFill>
              </a:defRPr>
            </a:pPr>
            <a:r>
              <a:rPr sz="1125" b="0">
                <a:solidFill>
                  <a:srgbClr val="5D7180"/>
                </a:solidFill>
              </a:rPr>
              <a:t>根拠: README.md / public/app.js / server.mjs / lib/providers/*.mjs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7915D77-63C1-4F52-82E1-CA7CEBD0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62865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47EBA"/>
            </a:solidFill>
            <a:prstDash val="solid"/>
          </a:ln>
        </p:spPr>
      </p:sp>
      <p:sp>
        <p:nvSpPr>
          <p:cNvPr id="81" name="legend-実装済み">
            <a:extLst xmlns:a="http://schemas.openxmlformats.org/drawingml/2006/main">
              <a:ext uri="{FF2B5EF4-FFF2-40B4-BE49-F238E27FC236}">
                <a16:creationId xmlns:a16="http://schemas.microsoft.com/office/drawing/2014/main" id="{3F8A1271-7766-477E-8BF2-74C12573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191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実装済み</a:t>
            </a:r>
          </a:p>
        </p:txBody>
      </p:sp>
    </p:spTree>
    <p:extLst>
      <p:ext uri="{BB962C8B-B14F-4D97-AF65-F5344CB8AC3E}">
        <p14:creationId xmlns:p14="http://schemas.microsoft.com/office/powerpoint/2010/main" val="4772343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E618899-25EF-4423-806B-0856D3B6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B3A"/>
                </a:solidFill>
              </a:defRPr>
            </a:pPr>
            <a:r>
              <a:rPr sz="2850" b="1">
                <a:solidFill>
                  <a:srgbClr val="172B3A"/>
                </a:solidFill>
              </a:rPr>
              <a:t>OrcaRouter経由で音声・動画モデルを追加</a:t>
            </a:r>
          </a:p>
        </p:txBody>
      </p:sp>
      <p:sp>
        <p:nvSpPr>
          <p:cNvPr id="2" name="slide-2-subtitle">
            <a:extLst xmlns:a="http://schemas.openxmlformats.org/drawingml/2006/main">
              <a:ext uri="{FF2B5EF4-FFF2-40B4-BE49-F238E27FC236}">
                <a16:creationId xmlns:a16="http://schemas.microsoft.com/office/drawing/2014/main" id="{51DA80D3-BBD4-4F7C-AB97-BE371001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7180"/>
                </a:solidFill>
              </a:defRPr>
            </a:pPr>
            <a:r>
              <a:rPr sz="1350" b="0">
                <a:solidFill>
                  <a:srgbClr val="5D7180"/>
                </a:solidFill>
              </a:rPr>
              <a:t>ゲートウェイから同期TTSと非同期動画へ。リアルタイム会話は待たない</a:t>
            </a:r>
          </a:p>
        </p:txBody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F05DAFBB-ECC1-4363-ABA8-4C3EE345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3048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7EBA"/>
                </a:solidFill>
              </a:defRPr>
            </a:pPr>
            <a:r>
              <a:rPr sz="1500" b="1">
                <a:solidFill>
                  <a:srgbClr val="147EBA"/>
                </a:solidFill>
              </a:rPr>
              <a:t>02</a:t>
            </a:r>
          </a:p>
        </p:txBody>
      </p:sp>
      <p:sp>
        <p:nvSpPr>
          <p:cNvPr id="4" name="implemented-region">
            <a:extLst xmlns:a="http://schemas.openxmlformats.org/drawingml/2006/main">
              <a:ext uri="{FF2B5EF4-FFF2-40B4-BE49-F238E27FC236}">
                <a16:creationId xmlns:a16="http://schemas.microsoft.com/office/drawing/2014/main" id="{D4C8BCE8-448C-4134-B852-AAC89C99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37147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7EBA"/>
            </a:solidFill>
            <a:prstDash val="dash"/>
          </a:ln>
        </p:spPr>
      </p:sp>
      <p:sp>
        <p:nvSpPr>
          <p:cNvPr id="5" name="implemented-region-label">
            <a:extLst xmlns:a="http://schemas.openxmlformats.org/drawingml/2006/main">
              <a:ext uri="{FF2B5EF4-FFF2-40B4-BE49-F238E27FC236}">
                <a16:creationId xmlns:a16="http://schemas.microsoft.com/office/drawing/2014/main" id="{4CB688C6-A149-4C2D-B6B2-C8861B61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76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7EBA"/>
                </a:solidFill>
              </a:defRPr>
            </a:pPr>
            <a:r>
              <a:rPr sz="1350" b="1">
                <a:solidFill>
                  <a:srgbClr val="147EBA"/>
                </a:solidFill>
              </a:rPr>
              <a:t>リアルタイム会話（実装済み）</a:t>
            </a:r>
          </a:p>
        </p:txBody>
      </p:sp>
      <p:sp>
        <p:nvSpPr>
          <p:cNvPr id="6" name="future-region">
            <a:extLst xmlns:a="http://schemas.openxmlformats.org/drawingml/2006/main">
              <a:ext uri="{FF2B5EF4-FFF2-40B4-BE49-F238E27FC236}">
                <a16:creationId xmlns:a16="http://schemas.microsoft.com/office/drawing/2014/main" id="{049E19F1-B1F8-4856-81C1-6AC5933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00150"/>
            <a:ext cx="72199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F38B2A"/>
            </a:solidFill>
            <a:prstDash val="dash"/>
          </a:ln>
        </p:spPr>
      </p:sp>
      <p:sp>
        <p:nvSpPr>
          <p:cNvPr id="7" name="future-region-label">
            <a:extLst xmlns:a="http://schemas.openxmlformats.org/drawingml/2006/main">
              <a:ext uri="{FF2B5EF4-FFF2-40B4-BE49-F238E27FC236}">
                <a16:creationId xmlns:a16="http://schemas.microsoft.com/office/drawing/2014/main" id="{546EBCEC-E0CD-4A9A-A86A-718441AC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276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8B2A"/>
                </a:solidFill>
              </a:defRPr>
            </a:pPr>
            <a:r>
              <a:rPr sz="1350" b="1">
                <a:solidFill>
                  <a:srgbClr val="F38B2A"/>
                </a:solidFill>
              </a:rPr>
              <a:t>次に追加（破線）</a:t>
            </a:r>
          </a:p>
        </p:txBody>
      </p:sp>
      <p:sp>
        <p:nvSpPr>
          <p:cNvPr id="8" name="s2-current-a">
            <a:extLst xmlns:a="http://schemas.openxmlformats.org/drawingml/2006/main">
              <a:ext uri="{FF2B5EF4-FFF2-40B4-BE49-F238E27FC236}">
                <a16:creationId xmlns:a16="http://schemas.microsoft.com/office/drawing/2014/main" id="{9BDDAD26-E0FF-4A1E-86E4-819DD1E2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457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147EBA"/>
            </a:solidFill>
            <a:prstDash val="solid"/>
          </a:ln>
        </p:spPr>
      </p:sp>
      <p:sp>
        <p:nvSpPr>
          <p:cNvPr id="9" name="s2-current-a-head">
            <a:extLst xmlns:a="http://schemas.openxmlformats.org/drawingml/2006/main">
              <a:ext uri="{FF2B5EF4-FFF2-40B4-BE49-F238E27FC236}">
                <a16:creationId xmlns:a16="http://schemas.microsoft.com/office/drawing/2014/main" id="{F5DBC5CD-6815-449F-AE89-18606409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733675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0">
            <a:solidFill>
              <a:srgbClr val="147EBA"/>
            </a:solidFill>
            <a:prstDash val="solid"/>
          </a:ln>
        </p:spPr>
      </p:sp>
      <p:sp>
        <p:nvSpPr>
          <p:cNvPr id="10" name="s2-current-b">
            <a:extLst xmlns:a="http://schemas.openxmlformats.org/drawingml/2006/main">
              <a:ext uri="{FF2B5EF4-FFF2-40B4-BE49-F238E27FC236}">
                <a16:creationId xmlns:a16="http://schemas.microsoft.com/office/drawing/2014/main" id="{E69D6C58-BB7F-4DB6-96A2-2CD96E4D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5433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147EBA"/>
            </a:solidFill>
            <a:prstDash val="solid"/>
          </a:ln>
        </p:spPr>
      </p:sp>
      <p:sp>
        <p:nvSpPr>
          <p:cNvPr id="11" name="s2-current-b-head">
            <a:extLst xmlns:a="http://schemas.openxmlformats.org/drawingml/2006/main">
              <a:ext uri="{FF2B5EF4-FFF2-40B4-BE49-F238E27FC236}">
                <a16:creationId xmlns:a16="http://schemas.microsoft.com/office/drawing/2014/main" id="{4EAB092C-17BB-4D38-8250-8187019A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819525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0">
            <a:solidFill>
              <a:srgbClr val="147EBA"/>
            </a:solidFill>
            <a:prstDash val="solid"/>
          </a:ln>
        </p:spPr>
      </p:sp>
      <p:sp>
        <p:nvSpPr>
          <p:cNvPr id="12" name="s2-current-c">
            <a:extLst xmlns:a="http://schemas.openxmlformats.org/drawingml/2006/main">
              <a:ext uri="{FF2B5EF4-FFF2-40B4-BE49-F238E27FC236}">
                <a16:creationId xmlns:a16="http://schemas.microsoft.com/office/drawing/2014/main" id="{0D28D400-866B-4F6F-9DDD-1BB356E5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724400"/>
            <a:ext cx="0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147EBA"/>
            </a:solidFill>
            <a:prstDash val="solid"/>
          </a:ln>
        </p:spPr>
      </p:sp>
      <p:sp>
        <p:nvSpPr>
          <p:cNvPr id="13" name="s2-current-c-head">
            <a:extLst xmlns:a="http://schemas.openxmlformats.org/drawingml/2006/main">
              <a:ext uri="{FF2B5EF4-FFF2-40B4-BE49-F238E27FC236}">
                <a16:creationId xmlns:a16="http://schemas.microsoft.com/office/drawing/2014/main" id="{F8AF328E-121E-453E-A961-46A18E9F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91490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0">
            <a:solidFill>
              <a:srgbClr val="147EBA"/>
            </a:solidFill>
            <a:prstDash val="solid"/>
          </a:ln>
        </p:spPr>
      </p:sp>
      <p:sp>
        <p:nvSpPr>
          <p:cNvPr id="14" name="s2-tts-route">
            <a:extLst xmlns:a="http://schemas.openxmlformats.org/drawingml/2006/main">
              <a:ext uri="{FF2B5EF4-FFF2-40B4-BE49-F238E27FC236}">
                <a16:creationId xmlns:a16="http://schemas.microsoft.com/office/drawing/2014/main" id="{87B9D8A0-FF57-47C0-A068-6A735184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90800"/>
            <a:ext cx="0" cy="314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F38B2A"/>
            </a:solidFill>
            <a:prstDash val="dash"/>
          </a:ln>
        </p:spPr>
      </p:sp>
      <p:sp>
        <p:nvSpPr>
          <p:cNvPr id="15" name="s2-tts-route-head">
            <a:extLst xmlns:a="http://schemas.openxmlformats.org/drawingml/2006/main">
              <a:ext uri="{FF2B5EF4-FFF2-40B4-BE49-F238E27FC236}">
                <a16:creationId xmlns:a16="http://schemas.microsoft.com/office/drawing/2014/main" id="{00C954B2-B055-4E69-8A1A-84C3BD51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89560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0">
            <a:solidFill>
              <a:srgbClr val="F38B2A"/>
            </a:solidFill>
            <a:prstDash val="solid"/>
          </a:ln>
        </p:spPr>
      </p:sp>
      <p:sp>
        <p:nvSpPr>
          <p:cNvPr id="16" name="s2-video-route">
            <a:extLst xmlns:a="http://schemas.openxmlformats.org/drawingml/2006/main">
              <a:ext uri="{FF2B5EF4-FFF2-40B4-BE49-F238E27FC236}">
                <a16:creationId xmlns:a16="http://schemas.microsoft.com/office/drawing/2014/main" id="{54D0403F-AE9E-483E-B3C4-9FB1F466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90800"/>
            <a:ext cx="0" cy="314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F38B2A"/>
            </a:solidFill>
            <a:prstDash val="dash"/>
          </a:ln>
        </p:spPr>
      </p:sp>
      <p:sp>
        <p:nvSpPr>
          <p:cNvPr id="17" name="s2-video-route-head">
            <a:extLst xmlns:a="http://schemas.openxmlformats.org/drawingml/2006/main">
              <a:ext uri="{FF2B5EF4-FFF2-40B4-BE49-F238E27FC236}">
                <a16:creationId xmlns:a16="http://schemas.microsoft.com/office/drawing/2014/main" id="{058B0BD2-F912-4133-A124-62D1742E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9560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0">
            <a:solidFill>
              <a:srgbClr val="F38B2A"/>
            </a:solidFill>
            <a:prstDash val="solid"/>
          </a:ln>
        </p:spPr>
      </p:sp>
      <p:sp>
        <p:nvSpPr>
          <p:cNvPr id="18" name="s2-tts-result">
            <a:extLst xmlns:a="http://schemas.openxmlformats.org/drawingml/2006/main">
              <a:ext uri="{FF2B5EF4-FFF2-40B4-BE49-F238E27FC236}">
                <a16:creationId xmlns:a16="http://schemas.microsoft.com/office/drawing/2014/main" id="{A986B10E-0DEB-40DB-B454-5FF07F0B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48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F38B2A"/>
            </a:solidFill>
            <a:prstDash val="dash"/>
          </a:ln>
        </p:spPr>
      </p:sp>
      <p:sp>
        <p:nvSpPr>
          <p:cNvPr id="19" name="s2-tts-result-head">
            <a:extLst xmlns:a="http://schemas.openxmlformats.org/drawingml/2006/main">
              <a:ext uri="{FF2B5EF4-FFF2-40B4-BE49-F238E27FC236}">
                <a16:creationId xmlns:a16="http://schemas.microsoft.com/office/drawing/2014/main" id="{C54C05DB-D603-48C9-B8D3-D95927E4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0">
            <a:solidFill>
              <a:srgbClr val="F38B2A"/>
            </a:solidFill>
            <a:prstDash val="solid"/>
          </a:ln>
        </p:spPr>
      </p:sp>
      <p:sp>
        <p:nvSpPr>
          <p:cNvPr id="20" name="s2-video-result">
            <a:extLst xmlns:a="http://schemas.openxmlformats.org/drawingml/2006/main">
              <a:ext uri="{FF2B5EF4-FFF2-40B4-BE49-F238E27FC236}">
                <a16:creationId xmlns:a16="http://schemas.microsoft.com/office/drawing/2014/main" id="{A1ABD8CF-A50A-485A-A127-25D7F647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848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F38B2A"/>
            </a:solidFill>
            <a:prstDash val="dash"/>
          </a:ln>
        </p:spPr>
      </p:sp>
      <p:sp>
        <p:nvSpPr>
          <p:cNvPr id="21" name="s2-video-result-head">
            <a:extLst xmlns:a="http://schemas.openxmlformats.org/drawingml/2006/main">
              <a:ext uri="{FF2B5EF4-FFF2-40B4-BE49-F238E27FC236}">
                <a16:creationId xmlns:a16="http://schemas.microsoft.com/office/drawing/2014/main" id="{D150C1D3-4C63-4BE1-8D2D-878E5684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43375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0">
            <a:solidFill>
              <a:srgbClr val="F38B2A"/>
            </a:solidFill>
            <a:prstDash val="solid"/>
          </a:ln>
        </p:spPr>
      </p:sp>
      <p:sp>
        <p:nvSpPr>
          <p:cNvPr id="22" name="s2-route">
            <a:extLst xmlns:a="http://schemas.openxmlformats.org/drawingml/2006/main">
              <a:ext uri="{FF2B5EF4-FFF2-40B4-BE49-F238E27FC236}">
                <a16:creationId xmlns:a16="http://schemas.microsoft.com/office/drawing/2014/main" id="{A9326023-3EBC-4DC1-8110-555BB866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3219450" cy="733425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23" name="s2-route-accent">
            <a:extLst xmlns:a="http://schemas.openxmlformats.org/drawingml/2006/main">
              <a:ext uri="{FF2B5EF4-FFF2-40B4-BE49-F238E27FC236}">
                <a16:creationId xmlns:a16="http://schemas.microsoft.com/office/drawing/2014/main" id="{76450BD3-BB8F-40F3-93BD-7747ADD2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952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24" name="s2-route-label">
            <a:extLst xmlns:a="http://schemas.openxmlformats.org/drawingml/2006/main">
              <a:ext uri="{FF2B5EF4-FFF2-40B4-BE49-F238E27FC236}">
                <a16:creationId xmlns:a16="http://schemas.microsoft.com/office/drawing/2014/main" id="{F1A43949-FFF4-4B50-96C0-A54599E0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0225"/>
            <a:ext cx="29718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Node API + OrcaRouter</a:t>
            </a:r>
          </a:p>
        </p:txBody>
      </p:sp>
      <p:sp>
        <p:nvSpPr>
          <p:cNvPr id="25" name="s2-route-detail">
            <a:extLst xmlns:a="http://schemas.openxmlformats.org/drawingml/2006/main">
              <a:ext uri="{FF2B5EF4-FFF2-40B4-BE49-F238E27FC236}">
                <a16:creationId xmlns:a16="http://schemas.microsoft.com/office/drawing/2014/main" id="{82D3A0E5-C360-4F47-B095-983072AC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3595"/>
            <a:ext cx="2971800" cy="2876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安全・支援・感情を構造化</a:t>
            </a:r>
          </a:p>
        </p:txBody>
      </p:sp>
      <p:sp>
        <p:nvSpPr>
          <p:cNvPr id="26" name="s2-media">
            <a:extLst xmlns:a="http://schemas.openxmlformats.org/drawingml/2006/main">
              <a:ext uri="{FF2B5EF4-FFF2-40B4-BE49-F238E27FC236}">
                <a16:creationId xmlns:a16="http://schemas.microsoft.com/office/drawing/2014/main" id="{334B1C7C-5F2B-46A9-BBFF-C4B2D8BB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321945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FEEFF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27" name="s2-media-accent">
            <a:extLst xmlns:a="http://schemas.openxmlformats.org/drawingml/2006/main">
              <a:ext uri="{FF2B5EF4-FFF2-40B4-BE49-F238E27FC236}">
                <a16:creationId xmlns:a16="http://schemas.microsoft.com/office/drawing/2014/main" id="{B6A40AD0-67CD-4A06-947F-E04177B5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95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54C9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28" name="s2-media-label">
            <a:extLst xmlns:a="http://schemas.openxmlformats.org/drawingml/2006/main">
              <a:ext uri="{FF2B5EF4-FFF2-40B4-BE49-F238E27FC236}">
                <a16:creationId xmlns:a16="http://schemas.microsoft.com/office/drawing/2014/main" id="{F5E1D6EE-E38C-4AA8-84E3-6975EAEC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Media Provider</a:t>
            </a:r>
          </a:p>
        </p:txBody>
      </p:sp>
      <p:sp>
        <p:nvSpPr>
          <p:cNvPr id="29" name="s2-media-detail">
            <a:extLst xmlns:a="http://schemas.openxmlformats.org/drawingml/2006/main">
              <a:ext uri="{FF2B5EF4-FFF2-40B4-BE49-F238E27FC236}">
                <a16:creationId xmlns:a16="http://schemas.microsoft.com/office/drawing/2014/main" id="{9AA70756-D45F-4B3C-AC87-C1C2FF90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90875"/>
            <a:ext cx="2971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LEVEL 1〜4 フォールバック</a:t>
            </a:r>
          </a:p>
        </p:txBody>
      </p:sp>
      <p:sp>
        <p:nvSpPr>
          <p:cNvPr id="30" name="s2-current">
            <a:extLst xmlns:a="http://schemas.openxmlformats.org/drawingml/2006/main">
              <a:ext uri="{FF2B5EF4-FFF2-40B4-BE49-F238E27FC236}">
                <a16:creationId xmlns:a16="http://schemas.microsoft.com/office/drawing/2014/main" id="{49849B2B-C18C-4878-A168-E68BF061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321945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31" name="s2-current-accent">
            <a:extLst xmlns:a="http://schemas.openxmlformats.org/drawingml/2006/main">
              <a:ext uri="{FF2B5EF4-FFF2-40B4-BE49-F238E27FC236}">
                <a16:creationId xmlns:a16="http://schemas.microsoft.com/office/drawing/2014/main" id="{D1E95FB7-C4F7-4806-B034-D14CAA10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95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EBA"/>
          </a:solidFill>
          <a:ln xmlns:a="http://schemas.openxmlformats.org/drawingml/2006/main" w="13335">
            <a:solidFill>
              <a:srgbClr val="147EBA"/>
            </a:solidFill>
            <a:prstDash val="solid"/>
          </a:ln>
        </p:spPr>
      </p:sp>
      <p:sp>
        <p:nvSpPr>
          <p:cNvPr id="32" name="s2-current-label">
            <a:extLst xmlns:a="http://schemas.openxmlformats.org/drawingml/2006/main">
              <a:ext uri="{FF2B5EF4-FFF2-40B4-BE49-F238E27FC236}">
                <a16:creationId xmlns:a16="http://schemas.microsoft.com/office/drawing/2014/main" id="{04CE32FF-770F-45D8-9957-F7FA85F7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現在の即時返答</a:t>
            </a:r>
          </a:p>
        </p:txBody>
      </p:sp>
      <p:sp>
        <p:nvSpPr>
          <p:cNvPr id="33" name="s2-current-detail">
            <a:extLst xmlns:a="http://schemas.openxmlformats.org/drawingml/2006/main">
              <a:ext uri="{FF2B5EF4-FFF2-40B4-BE49-F238E27FC236}">
                <a16:creationId xmlns:a16="http://schemas.microsoft.com/office/drawing/2014/main" id="{FE889544-BFCA-4B26-B4C8-18B8CB34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297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事前生成動画 または 写真アニメ + 動的音声 + 字幕</a:t>
            </a:r>
          </a:p>
        </p:txBody>
      </p:sp>
      <p:sp>
        <p:nvSpPr>
          <p:cNvPr id="34" name="s2-safety">
            <a:extLst xmlns:a="http://schemas.openxmlformats.org/drawingml/2006/main">
              <a:ext uri="{FF2B5EF4-FFF2-40B4-BE49-F238E27FC236}">
                <a16:creationId xmlns:a16="http://schemas.microsoft.com/office/drawing/2014/main" id="{80303AB2-197D-4152-B4DF-0FB7C54B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32194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35" name="s2-safety-accent">
            <a:extLst xmlns:a="http://schemas.openxmlformats.org/drawingml/2006/main">
              <a:ext uri="{FF2B5EF4-FFF2-40B4-BE49-F238E27FC236}">
                <a16:creationId xmlns:a16="http://schemas.microsoft.com/office/drawing/2014/main" id="{EEF0B56E-29A9-4374-9D25-29C8EE61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364F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36" name="s2-safety-label">
            <a:extLst xmlns:a="http://schemas.openxmlformats.org/drawingml/2006/main">
              <a:ext uri="{FF2B5EF4-FFF2-40B4-BE49-F238E27FC236}">
                <a16:creationId xmlns:a16="http://schemas.microsoft.com/office/drawing/2014/main" id="{8A5FACCD-988F-44A6-9983-DEA1C20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2971800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安全分岐</a:t>
            </a:r>
          </a:p>
        </p:txBody>
      </p:sp>
      <p:sp>
        <p:nvSpPr>
          <p:cNvPr id="37" name="s2-safety-detail">
            <a:extLst xmlns:a="http://schemas.openxmlformats.org/drawingml/2006/main">
              <a:ext uri="{FF2B5EF4-FFF2-40B4-BE49-F238E27FC236}">
                <a16:creationId xmlns:a16="http://schemas.microsoft.com/office/drawing/2014/main" id="{BF5D59FD-DF62-4339-84BB-68E839DA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45430"/>
            <a:ext cx="2971800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親らしいメディアを止め、大人へ</a:t>
            </a:r>
          </a:p>
        </p:txBody>
      </p:sp>
      <p:sp>
        <p:nvSpPr>
          <p:cNvPr id="38" name="s2-gateway">
            <a:extLst xmlns:a="http://schemas.openxmlformats.org/drawingml/2006/main">
              <a:ext uri="{FF2B5EF4-FFF2-40B4-BE49-F238E27FC236}">
                <a16:creationId xmlns:a16="http://schemas.microsoft.com/office/drawing/2014/main" id="{1D792BD9-B6C4-43AC-ADFD-950CF8F6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6648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39" name="s2-gateway-accent">
            <a:extLst xmlns:a="http://schemas.openxmlformats.org/drawingml/2006/main">
              <a:ext uri="{FF2B5EF4-FFF2-40B4-BE49-F238E27FC236}">
                <a16:creationId xmlns:a16="http://schemas.microsoft.com/office/drawing/2014/main" id="{FFC86E7E-3B02-4DBE-81DF-3A839E2B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9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F67"/>
          </a:solidFill>
          <a:ln xmlns:a="http://schemas.openxmlformats.org/drawingml/2006/main" w="13335">
            <a:solidFill>
              <a:srgbClr val="D52F67"/>
            </a:solidFill>
            <a:prstDash val="solid"/>
          </a:ln>
        </p:spPr>
      </p:sp>
      <p:sp>
        <p:nvSpPr>
          <p:cNvPr id="40" name="s2-gateway-label">
            <a:extLst xmlns:a="http://schemas.openxmlformats.org/drawingml/2006/main">
              <a:ext uri="{FF2B5EF4-FFF2-40B4-BE49-F238E27FC236}">
                <a16:creationId xmlns:a16="http://schemas.microsoft.com/office/drawing/2014/main" id="{82101D80-1433-4BB2-A1B5-A582844B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90700"/>
            <a:ext cx="640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OrcaRouter API ゲートウェイ</a:t>
            </a:r>
          </a:p>
        </p:txBody>
      </p:sp>
      <p:sp>
        <p:nvSpPr>
          <p:cNvPr id="41" name="s2-gateway-detail">
            <a:extLst xmlns:a="http://schemas.openxmlformats.org/drawingml/2006/main">
              <a:ext uri="{FF2B5EF4-FFF2-40B4-BE49-F238E27FC236}">
                <a16:creationId xmlns:a16="http://schemas.microsoft.com/office/drawing/2014/main" id="{FC05ABCF-0BB6-4D43-A27C-F971F868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640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TTS / 動画モデルへルーティング可能</a:t>
            </a:r>
          </a:p>
        </p:txBody>
      </p:sp>
      <p:sp>
        <p:nvSpPr>
          <p:cNvPr id="42" name="s2-tts">
            <a:extLst xmlns:a="http://schemas.openxmlformats.org/drawingml/2006/main">
              <a:ext uri="{FF2B5EF4-FFF2-40B4-BE49-F238E27FC236}">
                <a16:creationId xmlns:a16="http://schemas.microsoft.com/office/drawing/2014/main" id="{932CDEE7-AFCF-4089-8F23-566B6884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29908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2E5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43" name="s2-tts-accent">
            <a:extLst xmlns:a="http://schemas.openxmlformats.org/drawingml/2006/main">
              <a:ext uri="{FF2B5EF4-FFF2-40B4-BE49-F238E27FC236}">
                <a16:creationId xmlns:a16="http://schemas.microsoft.com/office/drawing/2014/main" id="{54B77598-8989-4B70-A2F9-B9A602D5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95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44" name="s2-tts-label">
            <a:extLst xmlns:a="http://schemas.openxmlformats.org/drawingml/2006/main">
              <a:ext uri="{FF2B5EF4-FFF2-40B4-BE49-F238E27FC236}">
                <a16:creationId xmlns:a16="http://schemas.microsoft.com/office/drawing/2014/main" id="{A10F8DCC-B55F-4DF5-8B72-19C000FF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67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同期TTS</a:t>
            </a:r>
          </a:p>
        </p:txBody>
      </p:sp>
      <p:sp>
        <p:nvSpPr>
          <p:cNvPr id="45" name="s2-tts-detail">
            <a:extLst xmlns:a="http://schemas.openxmlformats.org/drawingml/2006/main">
              <a:ext uri="{FF2B5EF4-FFF2-40B4-BE49-F238E27FC236}">
                <a16:creationId xmlns:a16="http://schemas.microsoft.com/office/drawing/2014/main" id="{57C0D16B-E2F8-4525-AECE-77B5F18B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90900"/>
            <a:ext cx="274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/v1/audio/speech（OpenAI系）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Gemini TTSは /v1beta/</a:t>
            </a:r>
          </a:p>
        </p:txBody>
      </p:sp>
      <p:sp>
        <p:nvSpPr>
          <p:cNvPr id="46" name="s2-video">
            <a:extLst xmlns:a="http://schemas.openxmlformats.org/drawingml/2006/main">
              <a:ext uri="{FF2B5EF4-FFF2-40B4-BE49-F238E27FC236}">
                <a16:creationId xmlns:a16="http://schemas.microsoft.com/office/drawing/2014/main" id="{82495660-7149-40C1-A04F-82011F99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90850"/>
            <a:ext cx="3238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2E5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47" name="s2-video-accent">
            <a:extLst xmlns:a="http://schemas.openxmlformats.org/drawingml/2006/main">
              <a:ext uri="{FF2B5EF4-FFF2-40B4-BE49-F238E27FC236}">
                <a16:creationId xmlns:a16="http://schemas.microsoft.com/office/drawing/2014/main" id="{EADBF57F-FF9B-4A92-94D4-AC7219B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90850"/>
            <a:ext cx="95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B2A"/>
          </a:solidFill>
          <a:ln xmlns:a="http://schemas.openxmlformats.org/drawingml/2006/main" w="13335">
            <a:solidFill>
              <a:srgbClr val="F38B2A"/>
            </a:solidFill>
            <a:prstDash val="solid"/>
          </a:ln>
        </p:spPr>
      </p:sp>
      <p:sp>
        <p:nvSpPr>
          <p:cNvPr id="48" name="s2-video-label">
            <a:extLst xmlns:a="http://schemas.openxmlformats.org/drawingml/2006/main">
              <a:ext uri="{FF2B5EF4-FFF2-40B4-BE49-F238E27FC236}">
                <a16:creationId xmlns:a16="http://schemas.microsoft.com/office/drawing/2014/main" id="{DD3757C3-A058-410A-ACF4-29152D96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670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非同期動画</a:t>
            </a:r>
          </a:p>
        </p:txBody>
      </p:sp>
      <p:sp>
        <p:nvSpPr>
          <p:cNvPr id="49" name="s2-video-detail">
            <a:extLst xmlns:a="http://schemas.openxmlformats.org/drawingml/2006/main">
              <a:ext uri="{FF2B5EF4-FFF2-40B4-BE49-F238E27FC236}">
                <a16:creationId xmlns:a16="http://schemas.microsoft.com/office/drawing/2014/main" id="{29DEBC5F-9977-482B-ADF9-675E5108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90900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/v1/video/generations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Kling / Seedance：30秒以上</a:t>
            </a:r>
          </a:p>
        </p:txBody>
      </p:sp>
      <p:sp>
        <p:nvSpPr>
          <p:cNvPr id="50" name="s2-realtime">
            <a:extLst xmlns:a="http://schemas.openxmlformats.org/drawingml/2006/main">
              <a:ext uri="{FF2B5EF4-FFF2-40B4-BE49-F238E27FC236}">
                <a16:creationId xmlns:a16="http://schemas.microsoft.com/office/drawing/2014/main" id="{0C3706E5-79D1-4D15-BFF0-518572C0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38625"/>
            <a:ext cx="29908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7EE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51" name="s2-realtime-accent">
            <a:extLst xmlns:a="http://schemas.openxmlformats.org/drawingml/2006/main">
              <a:ext uri="{FF2B5EF4-FFF2-40B4-BE49-F238E27FC236}">
                <a16:creationId xmlns:a16="http://schemas.microsoft.com/office/drawing/2014/main" id="{DB9002EB-31FF-4365-9309-B7FDF70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38625"/>
            <a:ext cx="95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853"/>
          </a:solidFill>
          <a:ln xmlns:a="http://schemas.openxmlformats.org/drawingml/2006/main" w="13335">
            <a:solidFill>
              <a:srgbClr val="35A853"/>
            </a:solidFill>
            <a:prstDash val="solid"/>
          </a:ln>
        </p:spPr>
      </p:sp>
      <p:sp>
        <p:nvSpPr>
          <p:cNvPr id="52" name="s2-realtime-label">
            <a:extLst xmlns:a="http://schemas.openxmlformats.org/drawingml/2006/main">
              <a:ext uri="{FF2B5EF4-FFF2-40B4-BE49-F238E27FC236}">
                <a16:creationId xmlns:a16="http://schemas.microsoft.com/office/drawing/2014/main" id="{482A6795-13F7-49CC-8BB9-FACAB926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148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リアルタイム会話に採用</a:t>
            </a:r>
          </a:p>
        </p:txBody>
      </p:sp>
      <p:sp>
        <p:nvSpPr>
          <p:cNvPr id="53" name="s2-realtime-detail">
            <a:extLst xmlns:a="http://schemas.openxmlformats.org/drawingml/2006/main">
              <a:ext uri="{FF2B5EF4-FFF2-40B4-BE49-F238E27FC236}">
                <a16:creationId xmlns:a16="http://schemas.microsoft.com/office/drawing/2014/main" id="{E224102E-ADD3-4242-904F-6BCC6D6D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386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写真アニメ + 動的TTS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または事前生成リアクション動画</a:t>
            </a:r>
          </a:p>
        </p:txBody>
      </p:sp>
      <p:sp>
        <p:nvSpPr>
          <p:cNvPr id="54" name="s2-async">
            <a:extLst xmlns:a="http://schemas.openxmlformats.org/drawingml/2006/main">
              <a:ext uri="{FF2B5EF4-FFF2-40B4-BE49-F238E27FC236}">
                <a16:creationId xmlns:a16="http://schemas.microsoft.com/office/drawing/2014/main" id="{F77B8A64-96CA-431E-9F95-20DCB69D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38625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EEFF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55" name="s2-async-accent">
            <a:extLst xmlns:a="http://schemas.openxmlformats.org/drawingml/2006/main">
              <a:ext uri="{FF2B5EF4-FFF2-40B4-BE49-F238E27FC236}">
                <a16:creationId xmlns:a16="http://schemas.microsoft.com/office/drawing/2014/main" id="{1010CA8E-483D-46CE-836E-40C81A3E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38625"/>
            <a:ext cx="95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54C9"/>
          </a:solidFill>
          <a:ln xmlns:a="http://schemas.openxmlformats.org/drawingml/2006/main" w="13335">
            <a:solidFill>
              <a:srgbClr val="5A54C9"/>
            </a:solidFill>
            <a:prstDash val="solid"/>
          </a:ln>
        </p:spPr>
      </p:sp>
      <p:sp>
        <p:nvSpPr>
          <p:cNvPr id="56" name="s2-async-label">
            <a:extLst xmlns:a="http://schemas.openxmlformats.org/drawingml/2006/main">
              <a:ext uri="{FF2B5EF4-FFF2-40B4-BE49-F238E27FC236}">
                <a16:creationId xmlns:a16="http://schemas.microsoft.com/office/drawing/2014/main" id="{FF280D49-3A25-404D-93DD-E25F3E27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14825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バックグラウンド生成</a:t>
            </a:r>
          </a:p>
        </p:txBody>
      </p:sp>
      <p:sp>
        <p:nvSpPr>
          <p:cNvPr id="57" name="s2-async-detail">
            <a:extLst xmlns:a="http://schemas.openxmlformats.org/drawingml/2006/main">
              <a:ext uri="{FF2B5EF4-FFF2-40B4-BE49-F238E27FC236}">
                <a16:creationId xmlns:a16="http://schemas.microsoft.com/office/drawing/2014/main" id="{7B9F2302-6122-41F7-B739-ED51C61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38675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submit → poll → MP4</a:t>
            </a:r>
          </a:p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会話中は完成を待たない</a:t>
            </a:r>
          </a:p>
        </p:txBody>
      </p:sp>
      <p:sp>
        <p:nvSpPr>
          <p:cNvPr id="58" name="s2-lipsync">
            <a:extLst xmlns:a="http://schemas.openxmlformats.org/drawingml/2006/main">
              <a:ext uri="{FF2B5EF4-FFF2-40B4-BE49-F238E27FC236}">
                <a16:creationId xmlns:a16="http://schemas.microsoft.com/office/drawing/2014/main" id="{43F4590E-CB5C-4909-8CD3-D3BA60DF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62550"/>
            <a:ext cx="6648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CF2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59" name="s2-lipsync-accent">
            <a:extLst xmlns:a="http://schemas.openxmlformats.org/drawingml/2006/main">
              <a:ext uri="{FF2B5EF4-FFF2-40B4-BE49-F238E27FC236}">
                <a16:creationId xmlns:a16="http://schemas.microsoft.com/office/drawing/2014/main" id="{873571DB-699C-480C-9ADC-7F9FBF08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62550"/>
            <a:ext cx="95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364F"/>
          </a:solidFill>
          <a:ln xmlns:a="http://schemas.openxmlformats.org/drawingml/2006/main" w="13335">
            <a:solidFill>
              <a:srgbClr val="C7364F"/>
            </a:solidFill>
            <a:prstDash val="solid"/>
          </a:ln>
        </p:spPr>
      </p:sp>
      <p:sp>
        <p:nvSpPr>
          <p:cNvPr id="60" name="s2-lipsync-label">
            <a:extLst xmlns:a="http://schemas.openxmlformats.org/drawingml/2006/main">
              <a:ext uri="{FF2B5EF4-FFF2-40B4-BE49-F238E27FC236}">
                <a16:creationId xmlns:a16="http://schemas.microsoft.com/office/drawing/2014/main" id="{2DFFCDFB-803A-4764-B518-7D3CBA64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38750"/>
            <a:ext cx="6400800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B3A"/>
                </a:solidFill>
              </a:defRPr>
            </a:pPr>
            <a:r>
              <a:rPr sz="1425" b="1">
                <a:solidFill>
                  <a:srgbClr val="172B3A"/>
                </a:solidFill>
              </a:rPr>
              <a:t>将来枠：真のリップシンク動画</a:t>
            </a:r>
          </a:p>
        </p:txBody>
      </p:sp>
      <p:sp>
        <p:nvSpPr>
          <p:cNvPr id="61" name="s2-lipsync-detail">
            <a:extLst xmlns:a="http://schemas.openxmlformats.org/drawingml/2006/main">
              <a:ext uri="{FF2B5EF4-FFF2-40B4-BE49-F238E27FC236}">
                <a16:creationId xmlns:a16="http://schemas.microsoft.com/office/drawing/2014/main" id="{F4B6DEC9-E9A7-4C25-BAC1-8C43652C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482590"/>
            <a:ext cx="6400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親声クローン + Talking Avatar（未実装）／同意・安全ガード必須</a:t>
            </a:r>
          </a:p>
        </p:txBody>
      </p:sp>
      <p:sp>
        <p:nvSpPr>
          <p:cNvPr id="62" name="footer2">
            <a:extLst xmlns:a="http://schemas.openxmlformats.org/drawingml/2006/main">
              <a:ext uri="{FF2B5EF4-FFF2-40B4-BE49-F238E27FC236}">
                <a16:creationId xmlns:a16="http://schemas.microsoft.com/office/drawing/2014/main" id="{7DD5C30F-EECD-4878-8266-8E9874BC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22935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動画は典型30〜90秒（Kling）／30秒〜4分（Seedance）。即時会話と非同期生成を分離する。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9F3F65-DD2C-4064-B9C2-DE9209B2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2674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47EBA"/>
            </a:solidFill>
            <a:prstDash val="solid"/>
          </a:ln>
        </p:spPr>
      </p:sp>
      <p:sp>
        <p:nvSpPr>
          <p:cNvPr id="64" name="legend-実装済み">
            <a:extLst xmlns:a="http://schemas.openxmlformats.org/drawingml/2006/main">
              <a:ext uri="{FF2B5EF4-FFF2-40B4-BE49-F238E27FC236}">
                <a16:creationId xmlns:a16="http://schemas.microsoft.com/office/drawing/2014/main" id="{4AFC58A3-A830-4736-9415-3DC89D10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6172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実装済み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02CCE01-244F-4795-A5BD-81AAA908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2674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F38B2A"/>
            </a:solidFill>
            <a:prstDash val="dash"/>
          </a:ln>
        </p:spPr>
      </p:sp>
      <p:sp>
        <p:nvSpPr>
          <p:cNvPr id="66" name="legend-未実装">
            <a:extLst xmlns:a="http://schemas.openxmlformats.org/drawingml/2006/main">
              <a:ext uri="{FF2B5EF4-FFF2-40B4-BE49-F238E27FC236}">
                <a16:creationId xmlns:a16="http://schemas.microsoft.com/office/drawing/2014/main" id="{1E0A1148-D5BD-4A89-9B56-807F2864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72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7180"/>
                </a:solidFill>
              </a:defRPr>
            </a:pPr>
            <a:r>
              <a:rPr sz="1200" b="0">
                <a:solidFill>
                  <a:srgbClr val="5D7180"/>
                </a:solidFill>
              </a:rPr>
              <a:t>未実装</a:t>
            </a:r>
          </a:p>
        </p:txBody>
      </p:sp>
    </p:spTree>
    <p:extLst>
      <p:ext uri="{BB962C8B-B14F-4D97-AF65-F5344CB8AC3E}">
        <p14:creationId xmlns:p14="http://schemas.microsoft.com/office/powerpoint/2010/main" val="13464093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2026-08-14T04:04:39.4660000Z</dcterms:created>
  <dcterms:modified xsi:type="dcterms:W3CDTF">2026-08-14T04:04:39.4670000Z</dcterms:modified>
</coreProperties>
</file>